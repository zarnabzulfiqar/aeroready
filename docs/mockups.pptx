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3716000" cy="9753600"/>
  <p:notesSz cx="6858000" cy="9144000"/>
  <p:embeddedFontLst>
    <p:embeddedFont>
      <p:font typeface="DIN Next Bold" charset="1" panose="020B0803020203050203"/>
      <p:regular r:id="rId19"/>
    </p:embeddedFont>
    <p:embeddedFont>
      <p:font typeface="DIN Next" charset="1" panose="020B0503020203050203"/>
      <p:regular r:id="rId20"/>
    </p:embeddedFont>
    <p:embeddedFont>
      <p:font typeface="Inter" charset="1" panose="020B0502030000000004"/>
      <p:regular r:id="rId21"/>
    </p:embeddedFont>
    <p:embeddedFont>
      <p:font typeface="Inter Bold" charset="1" panose="020B080203000000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A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7750" y="2400300"/>
            <a:ext cx="4000500" cy="4105868"/>
            <a:chOff x="0" y="0"/>
            <a:chExt cx="812800" cy="8342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34208"/>
            </a:xfrm>
            <a:custGeom>
              <a:avLst/>
              <a:gdLst/>
              <a:ahLst/>
              <a:cxnLst/>
              <a:rect r="r" b="b" t="t" l="l"/>
              <a:pathLst>
                <a:path h="834208" w="812800">
                  <a:moveTo>
                    <a:pt x="812800" y="0"/>
                  </a:moveTo>
                  <a:lnTo>
                    <a:pt x="812800" y="834208"/>
                  </a:lnTo>
                  <a:lnTo>
                    <a:pt x="0" y="8342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6F8"/>
            </a:solidFill>
            <a:ln cap="sq">
              <a:noFill/>
              <a:prstDash val="sysDot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72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238750" y="2733675"/>
            <a:ext cx="3238500" cy="54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1A2B3C"/>
                </a:solidFill>
                <a:latin typeface="DIN Next Bold"/>
                <a:ea typeface="DIN Next Bold"/>
                <a:cs typeface="DIN Next Bold"/>
                <a:sym typeface="DIN Next Bold"/>
              </a:rPr>
              <a:t>Aero</a:t>
            </a:r>
            <a:r>
              <a:rPr lang="en-US" sz="2799" strike="noStrike" u="none">
                <a:solidFill>
                  <a:srgbClr val="0FA3A3"/>
                </a:solidFill>
                <a:latin typeface="DIN Next"/>
                <a:ea typeface="DIN Next"/>
                <a:cs typeface="DIN Next"/>
                <a:sym typeface="DIN Next"/>
              </a:rPr>
              <a:t>Ready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38750" y="3209925"/>
            <a:ext cx="32385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Sign in to your account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38750" y="3676650"/>
            <a:ext cx="3238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Email address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238750" y="3943350"/>
            <a:ext cx="3238500" cy="457200"/>
            <a:chOff x="0" y="0"/>
            <a:chExt cx="43180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1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4318000">
                  <a:moveTo>
                    <a:pt x="60960" y="0"/>
                  </a:moveTo>
                  <a:lnTo>
                    <a:pt x="4257040" y="0"/>
                  </a:lnTo>
                  <a:cubicBezTo>
                    <a:pt x="4290707" y="0"/>
                    <a:pt x="4318000" y="27293"/>
                    <a:pt x="4318000" y="60960"/>
                  </a:cubicBezTo>
                  <a:lnTo>
                    <a:pt x="4318000" y="548640"/>
                  </a:lnTo>
                  <a:cubicBezTo>
                    <a:pt x="4318000" y="582307"/>
                    <a:pt x="4290707" y="609600"/>
                    <a:pt x="4257040" y="609600"/>
                  </a:cubicBezTo>
                  <a:lnTo>
                    <a:pt x="60960" y="609600"/>
                  </a:lnTo>
                  <a:cubicBezTo>
                    <a:pt x="27293" y="609600"/>
                    <a:pt x="0" y="582307"/>
                    <a:pt x="0" y="548640"/>
                  </a:cubicBezTo>
                  <a:lnTo>
                    <a:pt x="0" y="60960"/>
                  </a:lnTo>
                  <a:cubicBezTo>
                    <a:pt x="0" y="27293"/>
                    <a:pt x="27293" y="0"/>
                    <a:pt x="60960" y="0"/>
                  </a:cubicBez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3180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391150" y="4038600"/>
            <a:ext cx="29337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name@company.com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38750" y="4591050"/>
            <a:ext cx="3238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Password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238750" y="4857750"/>
            <a:ext cx="3238500" cy="457200"/>
            <a:chOff x="0" y="0"/>
            <a:chExt cx="4318000" cy="609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1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4318000">
                  <a:moveTo>
                    <a:pt x="60960" y="0"/>
                  </a:moveTo>
                  <a:lnTo>
                    <a:pt x="4257040" y="0"/>
                  </a:lnTo>
                  <a:cubicBezTo>
                    <a:pt x="4290707" y="0"/>
                    <a:pt x="4318000" y="27293"/>
                    <a:pt x="4318000" y="60960"/>
                  </a:cubicBezTo>
                  <a:lnTo>
                    <a:pt x="4318000" y="548640"/>
                  </a:lnTo>
                  <a:cubicBezTo>
                    <a:pt x="4318000" y="582307"/>
                    <a:pt x="4290707" y="609600"/>
                    <a:pt x="4257040" y="609600"/>
                  </a:cubicBezTo>
                  <a:lnTo>
                    <a:pt x="60960" y="609600"/>
                  </a:lnTo>
                  <a:cubicBezTo>
                    <a:pt x="27293" y="609600"/>
                    <a:pt x="0" y="582307"/>
                    <a:pt x="0" y="548640"/>
                  </a:cubicBezTo>
                  <a:lnTo>
                    <a:pt x="0" y="60960"/>
                  </a:lnTo>
                  <a:cubicBezTo>
                    <a:pt x="0" y="27293"/>
                    <a:pt x="27293" y="0"/>
                    <a:pt x="60960" y="0"/>
                  </a:cubicBezTo>
                  <a:close/>
                </a:path>
              </a:pathLst>
            </a:custGeom>
            <a:solidFill>
              <a:srgbClr val="F4F6F8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3180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391150" y="4953000"/>
            <a:ext cx="29337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••••••••••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38750" y="5362575"/>
            <a:ext cx="3238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0FA3A3"/>
                </a:solidFill>
                <a:latin typeface="Inter"/>
                <a:ea typeface="Inter"/>
                <a:cs typeface="Inter"/>
                <a:sym typeface="Inter"/>
              </a:rPr>
              <a:t>Forgot password?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238750" y="5791200"/>
            <a:ext cx="3238500" cy="457200"/>
            <a:chOff x="0" y="0"/>
            <a:chExt cx="4318000" cy="60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18000" cy="609600"/>
            </a:xfrm>
            <a:custGeom>
              <a:avLst/>
              <a:gdLst/>
              <a:ahLst/>
              <a:cxnLst/>
              <a:rect r="r" b="b" t="t" l="l"/>
              <a:pathLst>
                <a:path h="609600" w="4318000">
                  <a:moveTo>
                    <a:pt x="60960" y="0"/>
                  </a:moveTo>
                  <a:lnTo>
                    <a:pt x="4257040" y="0"/>
                  </a:lnTo>
                  <a:cubicBezTo>
                    <a:pt x="4290707" y="0"/>
                    <a:pt x="4318000" y="27293"/>
                    <a:pt x="4318000" y="60960"/>
                  </a:cubicBezTo>
                  <a:lnTo>
                    <a:pt x="4318000" y="548640"/>
                  </a:lnTo>
                  <a:cubicBezTo>
                    <a:pt x="4318000" y="582307"/>
                    <a:pt x="4290707" y="609600"/>
                    <a:pt x="4257040" y="609600"/>
                  </a:cubicBezTo>
                  <a:lnTo>
                    <a:pt x="60960" y="609600"/>
                  </a:lnTo>
                  <a:cubicBezTo>
                    <a:pt x="27293" y="609600"/>
                    <a:pt x="0" y="582307"/>
                    <a:pt x="0" y="548640"/>
                  </a:cubicBezTo>
                  <a:lnTo>
                    <a:pt x="0" y="60960"/>
                  </a:lnTo>
                  <a:cubicBezTo>
                    <a:pt x="0" y="27293"/>
                    <a:pt x="27293" y="0"/>
                    <a:pt x="60960" y="0"/>
                  </a:cubicBez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3180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238750" y="5857875"/>
            <a:ext cx="32385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Sign In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38750" y="6753225"/>
            <a:ext cx="32385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B0BEC5"/>
                </a:solidFill>
                <a:latin typeface="Inter"/>
                <a:ea typeface="Inter"/>
                <a:cs typeface="Inter"/>
                <a:sym typeface="Inter"/>
              </a:rPr>
              <a:t>Protected by AeroReady Security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57200" y="247650"/>
            <a:ext cx="19050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  </a:t>
            </a:r>
            <a:r>
              <a:rPr lang="en-US" b="true" sz="2400" strike="noStrike" u="none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Aero</a:t>
            </a:r>
            <a:r>
              <a:rPr lang="en-US" sz="2400" strike="noStrike" u="none">
                <a:solidFill>
                  <a:srgbClr val="0FA3A3"/>
                </a:solidFill>
                <a:latin typeface="DIN Next"/>
                <a:ea typeface="DIN Next"/>
                <a:cs typeface="DIN Next"/>
                <a:sym typeface="DIN Next"/>
              </a:rPr>
              <a:t>Ready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57200" y="9144000"/>
            <a:ext cx="3810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4A6070"/>
                </a:solidFill>
                <a:latin typeface="Inter"/>
                <a:ea typeface="Inter"/>
                <a:cs typeface="Inter"/>
                <a:sym typeface="Inter"/>
              </a:rPr>
              <a:t>UAV Readiness &amp; Maintenance Platform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90525" y="407987"/>
            <a:ext cx="171450" cy="171450"/>
            <a:chOff x="0" y="0"/>
            <a:chExt cx="228600" cy="228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8" id="28"/>
          <p:cNvSpPr/>
          <p:nvPr/>
        </p:nvSpPr>
        <p:spPr>
          <a:xfrm>
            <a:off x="381000" y="718870"/>
            <a:ext cx="533400" cy="0"/>
          </a:xfrm>
          <a:prstGeom prst="line">
            <a:avLst/>
          </a:prstGeom>
          <a:ln cap="rnd" w="19050">
            <a:solidFill>
              <a:srgbClr val="0FA3A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15300" y="2647950"/>
            <a:ext cx="5295900" cy="52959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6314" y="0"/>
                  </a:moveTo>
                  <a:lnTo>
                    <a:pt x="786486" y="0"/>
                  </a:lnTo>
                  <a:cubicBezTo>
                    <a:pt x="801019" y="0"/>
                    <a:pt x="812800" y="11781"/>
                    <a:pt x="812800" y="26314"/>
                  </a:cubicBezTo>
                  <a:lnTo>
                    <a:pt x="812800" y="786486"/>
                  </a:lnTo>
                  <a:cubicBezTo>
                    <a:pt x="812800" y="801019"/>
                    <a:pt x="801019" y="812800"/>
                    <a:pt x="786486" y="812800"/>
                  </a:cubicBezTo>
                  <a:lnTo>
                    <a:pt x="26314" y="812800"/>
                  </a:lnTo>
                  <a:cubicBezTo>
                    <a:pt x="11781" y="812800"/>
                    <a:pt x="0" y="801019"/>
                    <a:pt x="0" y="786486"/>
                  </a:cubicBezTo>
                  <a:lnTo>
                    <a:pt x="0" y="26314"/>
                  </a:lnTo>
                  <a:cubicBezTo>
                    <a:pt x="0" y="11781"/>
                    <a:pt x="11781" y="0"/>
                    <a:pt x="26314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90800" y="2647950"/>
            <a:ext cx="5295900" cy="52959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6314" y="0"/>
                  </a:moveTo>
                  <a:lnTo>
                    <a:pt x="786486" y="0"/>
                  </a:lnTo>
                  <a:cubicBezTo>
                    <a:pt x="801019" y="0"/>
                    <a:pt x="812800" y="11781"/>
                    <a:pt x="812800" y="26314"/>
                  </a:cubicBezTo>
                  <a:lnTo>
                    <a:pt x="812800" y="786486"/>
                  </a:lnTo>
                  <a:cubicBezTo>
                    <a:pt x="812800" y="801019"/>
                    <a:pt x="801019" y="812800"/>
                    <a:pt x="786486" y="812800"/>
                  </a:cubicBezTo>
                  <a:lnTo>
                    <a:pt x="26314" y="812800"/>
                  </a:lnTo>
                  <a:cubicBezTo>
                    <a:pt x="11781" y="812800"/>
                    <a:pt x="0" y="801019"/>
                    <a:pt x="0" y="786486"/>
                  </a:cubicBezTo>
                  <a:lnTo>
                    <a:pt x="0" y="26314"/>
                  </a:lnTo>
                  <a:cubicBezTo>
                    <a:pt x="0" y="11781"/>
                    <a:pt x="11781" y="0"/>
                    <a:pt x="26314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48975" y="1295400"/>
            <a:ext cx="2562225" cy="1047750"/>
            <a:chOff x="0" y="0"/>
            <a:chExt cx="3416300" cy="1397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163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416300">
                  <a:moveTo>
                    <a:pt x="139700" y="0"/>
                  </a:moveTo>
                  <a:lnTo>
                    <a:pt x="3276600" y="0"/>
                  </a:lnTo>
                  <a:cubicBezTo>
                    <a:pt x="3353754" y="0"/>
                    <a:pt x="3416300" y="62546"/>
                    <a:pt x="3416300" y="139700"/>
                  </a:cubicBezTo>
                  <a:lnTo>
                    <a:pt x="3416300" y="1257300"/>
                  </a:lnTo>
                  <a:cubicBezTo>
                    <a:pt x="3416300" y="1334454"/>
                    <a:pt x="3353754" y="1397000"/>
                    <a:pt x="3276600" y="1397000"/>
                  </a:cubicBezTo>
                  <a:lnTo>
                    <a:pt x="139700" y="1397000"/>
                  </a:lnTo>
                  <a:cubicBezTo>
                    <a:pt x="62546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62546" y="0"/>
                    <a:pt x="1397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4163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096250" y="1295400"/>
            <a:ext cx="2562225" cy="1047750"/>
            <a:chOff x="0" y="0"/>
            <a:chExt cx="3416300" cy="139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63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416300">
                  <a:moveTo>
                    <a:pt x="139700" y="0"/>
                  </a:moveTo>
                  <a:lnTo>
                    <a:pt x="3276600" y="0"/>
                  </a:lnTo>
                  <a:cubicBezTo>
                    <a:pt x="3353754" y="0"/>
                    <a:pt x="3416300" y="62546"/>
                    <a:pt x="3416300" y="139700"/>
                  </a:cubicBezTo>
                  <a:lnTo>
                    <a:pt x="3416300" y="1257300"/>
                  </a:lnTo>
                  <a:cubicBezTo>
                    <a:pt x="3416300" y="1334454"/>
                    <a:pt x="3353754" y="1397000"/>
                    <a:pt x="3276600" y="1397000"/>
                  </a:cubicBezTo>
                  <a:lnTo>
                    <a:pt x="139700" y="1397000"/>
                  </a:lnTo>
                  <a:cubicBezTo>
                    <a:pt x="62546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62546" y="0"/>
                    <a:pt x="1397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4163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43525" y="1295400"/>
            <a:ext cx="2562225" cy="1047750"/>
            <a:chOff x="0" y="0"/>
            <a:chExt cx="3416300" cy="139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163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416300">
                  <a:moveTo>
                    <a:pt x="139700" y="0"/>
                  </a:moveTo>
                  <a:lnTo>
                    <a:pt x="3276600" y="0"/>
                  </a:lnTo>
                  <a:cubicBezTo>
                    <a:pt x="3353754" y="0"/>
                    <a:pt x="3416300" y="62546"/>
                    <a:pt x="3416300" y="139700"/>
                  </a:cubicBezTo>
                  <a:lnTo>
                    <a:pt x="3416300" y="1257300"/>
                  </a:lnTo>
                  <a:cubicBezTo>
                    <a:pt x="3416300" y="1334454"/>
                    <a:pt x="3353754" y="1397000"/>
                    <a:pt x="3276600" y="1397000"/>
                  </a:cubicBezTo>
                  <a:lnTo>
                    <a:pt x="139700" y="1397000"/>
                  </a:lnTo>
                  <a:cubicBezTo>
                    <a:pt x="62546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62546" y="0"/>
                    <a:pt x="1397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4163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590800" y="1295400"/>
            <a:ext cx="2562225" cy="1047750"/>
            <a:chOff x="0" y="0"/>
            <a:chExt cx="3416300" cy="1397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163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416300">
                  <a:moveTo>
                    <a:pt x="139700" y="0"/>
                  </a:moveTo>
                  <a:lnTo>
                    <a:pt x="3276600" y="0"/>
                  </a:lnTo>
                  <a:cubicBezTo>
                    <a:pt x="3353754" y="0"/>
                    <a:pt x="3416300" y="62546"/>
                    <a:pt x="3416300" y="139700"/>
                  </a:cubicBezTo>
                  <a:lnTo>
                    <a:pt x="3416300" y="1257300"/>
                  </a:lnTo>
                  <a:cubicBezTo>
                    <a:pt x="3416300" y="1334454"/>
                    <a:pt x="3353754" y="1397000"/>
                    <a:pt x="3276600" y="1397000"/>
                  </a:cubicBezTo>
                  <a:lnTo>
                    <a:pt x="139700" y="1397000"/>
                  </a:lnTo>
                  <a:cubicBezTo>
                    <a:pt x="62546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62546" y="0"/>
                    <a:pt x="1397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4163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6200" y="1076325"/>
            <a:ext cx="2133600" cy="323850"/>
            <a:chOff x="0" y="0"/>
            <a:chExt cx="2844800" cy="431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44800" cy="431800"/>
            </a:xfrm>
            <a:custGeom>
              <a:avLst/>
              <a:gdLst/>
              <a:ahLst/>
              <a:cxnLst/>
              <a:rect r="r" b="b" t="t" l="l"/>
              <a:pathLst>
                <a:path h="431800" w="2844800">
                  <a:moveTo>
                    <a:pt x="43180" y="0"/>
                  </a:moveTo>
                  <a:lnTo>
                    <a:pt x="2801620" y="0"/>
                  </a:lnTo>
                  <a:cubicBezTo>
                    <a:pt x="2825468" y="0"/>
                    <a:pt x="2844800" y="19332"/>
                    <a:pt x="2844800" y="43180"/>
                  </a:cubicBezTo>
                  <a:lnTo>
                    <a:pt x="2844800" y="388620"/>
                  </a:lnTo>
                  <a:cubicBezTo>
                    <a:pt x="2844800" y="412468"/>
                    <a:pt x="2825468" y="431800"/>
                    <a:pt x="2801620" y="431800"/>
                  </a:cubicBezTo>
                  <a:lnTo>
                    <a:pt x="43180" y="431800"/>
                  </a:lnTo>
                  <a:cubicBezTo>
                    <a:pt x="19332" y="431800"/>
                    <a:pt x="0" y="412468"/>
                    <a:pt x="0" y="388620"/>
                  </a:cubicBezTo>
                  <a:lnTo>
                    <a:pt x="0" y="43180"/>
                  </a:lnTo>
                  <a:cubicBezTo>
                    <a:pt x="0" y="19332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1A2F4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844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0" y="0"/>
            <a:ext cx="2286000" cy="9753600"/>
            <a:chOff x="0" y="0"/>
            <a:chExt cx="3048000" cy="13004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4800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3004800"/>
                  </a:lnTo>
                  <a:lnTo>
                    <a:pt x="0" y="13004800"/>
                  </a:lnTo>
                  <a:close/>
                </a:path>
              </a:pathLst>
            </a:custGeom>
            <a:solidFill>
              <a:srgbClr val="0A1A2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048000" cy="130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57200" y="142875"/>
            <a:ext cx="19050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Aero</a:t>
            </a:r>
            <a:r>
              <a:rPr lang="en-US" sz="2400" strike="noStrike" u="none">
                <a:solidFill>
                  <a:srgbClr val="0FA3A3"/>
                </a:solidFill>
                <a:latin typeface="DIN Next"/>
                <a:ea typeface="DIN Next"/>
                <a:cs typeface="DIN Next"/>
                <a:sym typeface="DIN Next"/>
              </a:rPr>
              <a:t>Ready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38150" y="107632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38150" y="143827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Drones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38150" y="180022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Batteries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38150" y="216217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Missions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38150" y="252412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Checklists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38150" y="288607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Risk &amp; Approval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38150" y="324802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Maintenance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38150" y="360997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Reports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38150" y="397192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Traceability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38150" y="433387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Users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38150" y="469582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Settings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2286000" y="0"/>
            <a:ext cx="11430000" cy="609600"/>
            <a:chOff x="0" y="0"/>
            <a:chExt cx="152400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240000" cy="812800"/>
            </a:xfrm>
            <a:custGeom>
              <a:avLst/>
              <a:gdLst/>
              <a:ahLst/>
              <a:cxnLst/>
              <a:rect r="r" b="b" t="t" l="l"/>
              <a:pathLst>
                <a:path h="8128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52400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144500" y="133350"/>
            <a:ext cx="342900" cy="342900"/>
            <a:chOff x="0" y="0"/>
            <a:chExt cx="457200" cy="457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D1D9E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3144500" y="190500"/>
            <a:ext cx="3429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JD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28600" y="11144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▣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28600" y="14763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✈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28600" y="18383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⚡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28600" y="22002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◎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28600" y="25622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☑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28600" y="29241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⚠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28600" y="32861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28600" y="36480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▤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28600" y="40100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⛓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28600" y="43719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👤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28600" y="47339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sp>
        <p:nvSpPr>
          <p:cNvPr name="AutoShape 56" id="56"/>
          <p:cNvSpPr/>
          <p:nvPr/>
        </p:nvSpPr>
        <p:spPr>
          <a:xfrm>
            <a:off x="228600" y="628650"/>
            <a:ext cx="533400" cy="0"/>
          </a:xfrm>
          <a:prstGeom prst="line">
            <a:avLst/>
          </a:prstGeom>
          <a:ln cap="rnd" w="19050">
            <a:solidFill>
              <a:srgbClr val="0F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7" id="57"/>
          <p:cNvSpPr txBox="true"/>
          <p:nvPr/>
        </p:nvSpPr>
        <p:spPr>
          <a:xfrm rot="0">
            <a:off x="2590800" y="733425"/>
            <a:ext cx="28575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A2B3C"/>
                </a:solidFill>
                <a:latin typeface="DIN Next Bold"/>
                <a:ea typeface="DIN Next Bold"/>
                <a:cs typeface="DIN Next Bold"/>
                <a:sym typeface="DIN Next Bold"/>
              </a:rPr>
              <a:t>Dashboard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781300" y="1428750"/>
            <a:ext cx="2181225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Active Drones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781300" y="1581150"/>
            <a:ext cx="2181225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0FA3A3"/>
                </a:solidFill>
                <a:latin typeface="DIN Next Bold"/>
                <a:ea typeface="DIN Next Bold"/>
                <a:cs typeface="DIN Next Bold"/>
                <a:sym typeface="DIN Next Bold"/>
              </a:rPr>
              <a:t>24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781300" y="2028825"/>
            <a:ext cx="2181225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3 grounded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534025" y="1428750"/>
            <a:ext cx="2181225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Batteries to Inspect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534025" y="1581150"/>
            <a:ext cx="2181225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0FA3A3"/>
                </a:solidFill>
                <a:latin typeface="DIN Next Bold"/>
                <a:ea typeface="DIN Next Bold"/>
                <a:cs typeface="DIN Next Bold"/>
                <a:sym typeface="DIN Next Bold"/>
              </a:rPr>
              <a:t>7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534025" y="2028825"/>
            <a:ext cx="2181225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2 critical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286750" y="1428750"/>
            <a:ext cx="2181225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Upcoming Missions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8286750" y="1581150"/>
            <a:ext cx="2181225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0FA3A3"/>
                </a:solidFill>
                <a:latin typeface="DIN Next Bold"/>
                <a:ea typeface="DIN Next Bold"/>
                <a:cs typeface="DIN Next Bold"/>
                <a:sym typeface="DIN Next Bold"/>
              </a:rPr>
              <a:t>12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286750" y="2028825"/>
            <a:ext cx="2181225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Next: tomorrow 08:00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039475" y="1428750"/>
            <a:ext cx="2181225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Pending Approvals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039475" y="1581150"/>
            <a:ext cx="2181225" cy="5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0FA3A3"/>
                </a:solidFill>
                <a:latin typeface="DIN Next Bold"/>
                <a:ea typeface="DIN Next Bold"/>
                <a:cs typeface="DIN Next Bold"/>
                <a:sym typeface="DIN Next Bold"/>
              </a:rPr>
              <a:t>5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039475" y="2028825"/>
            <a:ext cx="2181225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2 high-risk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781300" y="2705100"/>
            <a:ext cx="491490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1A2B3C"/>
                </a:solidFill>
                <a:latin typeface="Inter Bold"/>
                <a:ea typeface="Inter Bold"/>
                <a:cs typeface="Inter Bold"/>
                <a:sym typeface="Inter Bold"/>
              </a:rPr>
              <a:t>Upcoming Missions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781300" y="3067050"/>
            <a:ext cx="166687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Mission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495800" y="3067050"/>
            <a:ext cx="80962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Date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5353050" y="3067050"/>
            <a:ext cx="133350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Drone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6734175" y="3067050"/>
            <a:ext cx="95250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</a:p>
        </p:txBody>
      </p:sp>
      <p:sp>
        <p:nvSpPr>
          <p:cNvPr name="AutoShape 75" id="75"/>
          <p:cNvSpPr/>
          <p:nvPr/>
        </p:nvSpPr>
        <p:spPr>
          <a:xfrm>
            <a:off x="2781300" y="3333750"/>
            <a:ext cx="49149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6" id="76"/>
          <p:cNvSpPr txBox="true"/>
          <p:nvPr/>
        </p:nvSpPr>
        <p:spPr>
          <a:xfrm rot="0">
            <a:off x="2781300" y="3371850"/>
            <a:ext cx="166687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Site Survey Alpha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4495800" y="3371850"/>
            <a:ext cx="80962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Jul 15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5353050" y="3371850"/>
            <a:ext cx="133350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DJI-M300-04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6734175" y="3371850"/>
            <a:ext cx="95250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0FA3A3"/>
                </a:solidFill>
                <a:latin typeface="Inter"/>
                <a:ea typeface="Inter"/>
                <a:cs typeface="Inter"/>
                <a:sym typeface="Inter"/>
              </a:rPr>
              <a:t>Approved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2781300" y="3657600"/>
            <a:ext cx="166687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Perimeter Check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4495800" y="3657600"/>
            <a:ext cx="80962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Jul 16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5353050" y="3657600"/>
            <a:ext cx="133350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DJI-M30T-02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6734175" y="3657600"/>
            <a:ext cx="95250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E6A817"/>
                </a:solidFill>
                <a:latin typeface="Inter"/>
                <a:ea typeface="Inter"/>
                <a:cs typeface="Inter"/>
                <a:sym typeface="Inter"/>
              </a:rPr>
              <a:t>Pending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2781300" y="3943350"/>
            <a:ext cx="166687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Thermal Scan B3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4495800" y="3943350"/>
            <a:ext cx="80962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Jul 17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5353050" y="3943350"/>
            <a:ext cx="133350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Autel-EVO2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6734175" y="3943350"/>
            <a:ext cx="95250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0FA3A3"/>
                </a:solidFill>
                <a:latin typeface="Inter"/>
                <a:ea typeface="Inter"/>
                <a:cs typeface="Inter"/>
                <a:sym typeface="Inter"/>
              </a:rPr>
              <a:t>Approved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2781300" y="4229100"/>
            <a:ext cx="166687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Mapping Zone C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4495800" y="4229100"/>
            <a:ext cx="80962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Jul 18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5353050" y="4229100"/>
            <a:ext cx="133350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DJI-M300-01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6734175" y="4229100"/>
            <a:ext cx="95250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E6A817"/>
                </a:solidFill>
                <a:latin typeface="Inter"/>
                <a:ea typeface="Inter"/>
                <a:cs typeface="Inter"/>
                <a:sym typeface="Inter"/>
              </a:rPr>
              <a:t>Pending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2781300" y="4514850"/>
            <a:ext cx="166687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Emergency Drill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4495800" y="4514850"/>
            <a:ext cx="80962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Jul 19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5353050" y="4514850"/>
            <a:ext cx="133350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DJI-M30T-05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6734175" y="4514850"/>
            <a:ext cx="95250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Draft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8305800" y="2705100"/>
            <a:ext cx="491490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1A2B3C"/>
                </a:solidFill>
                <a:latin typeface="Inter Bold"/>
                <a:ea typeface="Inter Bold"/>
                <a:cs typeface="Inter Bold"/>
                <a:sym typeface="Inter Bold"/>
              </a:rPr>
              <a:t>Recent Approvals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8305800" y="3067050"/>
            <a:ext cx="138112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Request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9734550" y="3067050"/>
            <a:ext cx="90487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Submitted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0687050" y="3067050"/>
            <a:ext cx="100012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Approver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1734800" y="3067050"/>
            <a:ext cx="90487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Decision</a:t>
            </a:r>
          </a:p>
        </p:txBody>
      </p:sp>
      <p:sp>
        <p:nvSpPr>
          <p:cNvPr name="AutoShape 101" id="101"/>
          <p:cNvSpPr/>
          <p:nvPr/>
        </p:nvSpPr>
        <p:spPr>
          <a:xfrm>
            <a:off x="8305800" y="3333750"/>
            <a:ext cx="49149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2" id="102"/>
          <p:cNvSpPr txBox="true"/>
          <p:nvPr/>
        </p:nvSpPr>
        <p:spPr>
          <a:xfrm rot="0">
            <a:off x="8305800" y="3371850"/>
            <a:ext cx="138112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Flight Plan #47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9734550" y="3371850"/>
            <a:ext cx="90487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Jul 12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0687050" y="3371850"/>
            <a:ext cx="100012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M. Chen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1734800" y="3371850"/>
            <a:ext cx="90487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0FA3A3"/>
                </a:solidFill>
                <a:latin typeface="Inter"/>
                <a:ea typeface="Inter"/>
                <a:cs typeface="Inter"/>
                <a:sym typeface="Inter"/>
              </a:rPr>
              <a:t>Approved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8305800" y="3657600"/>
            <a:ext cx="138112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Battery Swap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9734550" y="3657600"/>
            <a:ext cx="90487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Jul 12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0687050" y="3657600"/>
            <a:ext cx="100012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R. Patel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1734800" y="3657600"/>
            <a:ext cx="90487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0FA3A3"/>
                </a:solidFill>
                <a:latin typeface="Inter"/>
                <a:ea typeface="Inter"/>
                <a:cs typeface="Inter"/>
                <a:sym typeface="Inter"/>
              </a:rPr>
              <a:t>Approved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8305800" y="3943350"/>
            <a:ext cx="138112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Night Ops #12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9734550" y="3943350"/>
            <a:ext cx="90487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Jul 11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0687050" y="3943350"/>
            <a:ext cx="100012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S. Kim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1734800" y="3943350"/>
            <a:ext cx="90487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E05252"/>
                </a:solidFill>
                <a:latin typeface="Inter"/>
                <a:ea typeface="Inter"/>
                <a:cs typeface="Inter"/>
                <a:sym typeface="Inter"/>
              </a:rPr>
              <a:t>Denied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8305800" y="4229100"/>
            <a:ext cx="138112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Zone C Access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9734550" y="4229100"/>
            <a:ext cx="90487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Jul 10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0687050" y="4229100"/>
            <a:ext cx="100012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M. Chen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1734800" y="4229100"/>
            <a:ext cx="90487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0FA3A3"/>
                </a:solidFill>
                <a:latin typeface="Inter"/>
                <a:ea typeface="Inter"/>
                <a:cs typeface="Inter"/>
                <a:sym typeface="Inter"/>
              </a:rPr>
              <a:t>Approved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8305800" y="4514850"/>
            <a:ext cx="138112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New Pilot Cert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9734550" y="4514850"/>
            <a:ext cx="90487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Jul 09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10687050" y="4514850"/>
            <a:ext cx="100012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J. Davis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1734800" y="4514850"/>
            <a:ext cx="904875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E6A817"/>
                </a:solidFill>
                <a:latin typeface="Inter"/>
                <a:ea typeface="Inter"/>
                <a:cs typeface="Inter"/>
                <a:sym typeface="Inter"/>
              </a:rPr>
              <a:t>Pending</a:t>
            </a:r>
          </a:p>
        </p:txBody>
      </p:sp>
      <p:grpSp>
        <p:nvGrpSpPr>
          <p:cNvPr name="Group 122" id="122"/>
          <p:cNvGrpSpPr/>
          <p:nvPr/>
        </p:nvGrpSpPr>
        <p:grpSpPr>
          <a:xfrm rot="0">
            <a:off x="228600" y="314325"/>
            <a:ext cx="171450" cy="171450"/>
            <a:chOff x="0" y="0"/>
            <a:chExt cx="228600" cy="2286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819400" y="417195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2819400" y="375285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819400" y="333375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819400" y="291465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590800" y="1924050"/>
            <a:ext cx="10820400" cy="108204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879" y="0"/>
                  </a:moveTo>
                  <a:lnTo>
                    <a:pt x="799921" y="0"/>
                  </a:lnTo>
                  <a:cubicBezTo>
                    <a:pt x="807034" y="0"/>
                    <a:pt x="812800" y="5766"/>
                    <a:pt x="812800" y="12879"/>
                  </a:cubicBezTo>
                  <a:lnTo>
                    <a:pt x="812800" y="799921"/>
                  </a:lnTo>
                  <a:cubicBezTo>
                    <a:pt x="812800" y="807034"/>
                    <a:pt x="807034" y="812800"/>
                    <a:pt x="799921" y="812800"/>
                  </a:cubicBezTo>
                  <a:lnTo>
                    <a:pt x="12879" y="812800"/>
                  </a:lnTo>
                  <a:cubicBezTo>
                    <a:pt x="5766" y="812800"/>
                    <a:pt x="0" y="807034"/>
                    <a:pt x="0" y="799921"/>
                  </a:cubicBezTo>
                  <a:lnTo>
                    <a:pt x="0" y="12879"/>
                  </a:lnTo>
                  <a:cubicBezTo>
                    <a:pt x="0" y="5766"/>
                    <a:pt x="5766" y="0"/>
                    <a:pt x="1287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200" y="1438275"/>
            <a:ext cx="2133600" cy="323850"/>
            <a:chOff x="0" y="0"/>
            <a:chExt cx="2844800" cy="431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4800" cy="431800"/>
            </a:xfrm>
            <a:custGeom>
              <a:avLst/>
              <a:gdLst/>
              <a:ahLst/>
              <a:cxnLst/>
              <a:rect r="r" b="b" t="t" l="l"/>
              <a:pathLst>
                <a:path h="431800" w="2844800">
                  <a:moveTo>
                    <a:pt x="43180" y="0"/>
                  </a:moveTo>
                  <a:lnTo>
                    <a:pt x="2801620" y="0"/>
                  </a:lnTo>
                  <a:cubicBezTo>
                    <a:pt x="2825468" y="0"/>
                    <a:pt x="2844800" y="19332"/>
                    <a:pt x="2844800" y="43180"/>
                  </a:cubicBezTo>
                  <a:lnTo>
                    <a:pt x="2844800" y="388620"/>
                  </a:lnTo>
                  <a:cubicBezTo>
                    <a:pt x="2844800" y="412468"/>
                    <a:pt x="2825468" y="431800"/>
                    <a:pt x="2801620" y="431800"/>
                  </a:cubicBezTo>
                  <a:lnTo>
                    <a:pt x="43180" y="431800"/>
                  </a:lnTo>
                  <a:cubicBezTo>
                    <a:pt x="19332" y="431800"/>
                    <a:pt x="0" y="412468"/>
                    <a:pt x="0" y="388620"/>
                  </a:cubicBezTo>
                  <a:lnTo>
                    <a:pt x="0" y="43180"/>
                  </a:lnTo>
                  <a:cubicBezTo>
                    <a:pt x="0" y="19332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1A2F4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844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2286000" cy="9753600"/>
            <a:chOff x="0" y="0"/>
            <a:chExt cx="3048000" cy="13004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4800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3004800"/>
                  </a:lnTo>
                  <a:lnTo>
                    <a:pt x="0" y="13004800"/>
                  </a:lnTo>
                  <a:close/>
                </a:path>
              </a:pathLst>
            </a:custGeom>
            <a:solidFill>
              <a:srgbClr val="0A1A2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048000" cy="130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57200" y="142875"/>
            <a:ext cx="19050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Aero</a:t>
            </a:r>
            <a:r>
              <a:rPr lang="en-US" sz="2400" strike="noStrike" u="none">
                <a:solidFill>
                  <a:srgbClr val="0FA3A3"/>
                </a:solidFill>
                <a:latin typeface="DIN Next"/>
                <a:ea typeface="DIN Next"/>
                <a:cs typeface="DIN Next"/>
                <a:sym typeface="DIN Next"/>
              </a:rPr>
              <a:t>Ready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8150" y="107632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8150" y="143827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Drones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8150" y="180022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Batteries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8150" y="216217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Missions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8150" y="252412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Checklists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8150" y="288607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Risk &amp; Approval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8150" y="324802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Maintenance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8150" y="360997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Reports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8150" y="397192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Traceability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38150" y="433387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Users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8150" y="469582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Settings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286000" y="0"/>
            <a:ext cx="11430000" cy="609600"/>
            <a:chOff x="0" y="0"/>
            <a:chExt cx="152400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240000" cy="812800"/>
            </a:xfrm>
            <a:custGeom>
              <a:avLst/>
              <a:gdLst/>
              <a:ahLst/>
              <a:cxnLst/>
              <a:rect r="r" b="b" t="t" l="l"/>
              <a:pathLst>
                <a:path h="8128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52400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144500" y="133350"/>
            <a:ext cx="342900" cy="342900"/>
            <a:chOff x="0" y="0"/>
            <a:chExt cx="457200" cy="457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D1D9E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3144500" y="180975"/>
            <a:ext cx="3429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JD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590800" y="733425"/>
            <a:ext cx="28575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A2B3C"/>
                </a:solidFill>
                <a:latin typeface="DIN Next Bold"/>
                <a:ea typeface="DIN Next Bold"/>
                <a:cs typeface="DIN Next Bold"/>
                <a:sym typeface="DIN Next Bold"/>
              </a:rPr>
              <a:t>Drone Inventory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28600" y="11144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▣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8600" y="14763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✈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28600" y="18383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⚡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8600" y="22002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◎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28600" y="25622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☑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8600" y="29241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⚠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28600" y="32861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28600" y="36480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▤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28600" y="40100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⛓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28600" y="43719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👤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28600" y="47339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sp>
        <p:nvSpPr>
          <p:cNvPr name="AutoShape 46" id="46"/>
          <p:cNvSpPr/>
          <p:nvPr/>
        </p:nvSpPr>
        <p:spPr>
          <a:xfrm>
            <a:off x="228600" y="628650"/>
            <a:ext cx="533400" cy="0"/>
          </a:xfrm>
          <a:prstGeom prst="line">
            <a:avLst/>
          </a:prstGeom>
          <a:ln cap="rnd" w="19050">
            <a:solidFill>
              <a:srgbClr val="0FA3A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2590800" y="1295400"/>
            <a:ext cx="3048000" cy="400050"/>
            <a:chOff x="0" y="0"/>
            <a:chExt cx="4064000" cy="533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064000" cy="533400"/>
            </a:xfrm>
            <a:custGeom>
              <a:avLst/>
              <a:gdLst/>
              <a:ahLst/>
              <a:cxnLst/>
              <a:rect r="r" b="b" t="t" l="l"/>
              <a:pathLst>
                <a:path h="533400" w="4064000">
                  <a:moveTo>
                    <a:pt x="53340" y="0"/>
                  </a:moveTo>
                  <a:lnTo>
                    <a:pt x="4010660" y="0"/>
                  </a:lnTo>
                  <a:cubicBezTo>
                    <a:pt x="4024807" y="0"/>
                    <a:pt x="4038374" y="5620"/>
                    <a:pt x="4048377" y="15623"/>
                  </a:cubicBezTo>
                  <a:cubicBezTo>
                    <a:pt x="4058380" y="25626"/>
                    <a:pt x="4064000" y="39193"/>
                    <a:pt x="4064000" y="53340"/>
                  </a:cubicBezTo>
                  <a:lnTo>
                    <a:pt x="4064000" y="480060"/>
                  </a:lnTo>
                  <a:cubicBezTo>
                    <a:pt x="4064000" y="494207"/>
                    <a:pt x="4058380" y="507774"/>
                    <a:pt x="4048377" y="517777"/>
                  </a:cubicBezTo>
                  <a:cubicBezTo>
                    <a:pt x="4038374" y="527780"/>
                    <a:pt x="4024807" y="533400"/>
                    <a:pt x="4010660" y="533400"/>
                  </a:cubicBezTo>
                  <a:lnTo>
                    <a:pt x="53340" y="533400"/>
                  </a:lnTo>
                  <a:cubicBezTo>
                    <a:pt x="39193" y="533400"/>
                    <a:pt x="25626" y="527780"/>
                    <a:pt x="15623" y="517777"/>
                  </a:cubicBezTo>
                  <a:cubicBezTo>
                    <a:pt x="5620" y="507774"/>
                    <a:pt x="0" y="494207"/>
                    <a:pt x="0" y="480060"/>
                  </a:cubicBezTo>
                  <a:lnTo>
                    <a:pt x="0" y="53340"/>
                  </a:lnTo>
                  <a:cubicBezTo>
                    <a:pt x="0" y="23881"/>
                    <a:pt x="23881" y="0"/>
                    <a:pt x="5334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0640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2819400" y="1362075"/>
            <a:ext cx="27432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Search drones...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2077700" y="1295400"/>
            <a:ext cx="1333500" cy="438150"/>
            <a:chOff x="0" y="0"/>
            <a:chExt cx="1778000" cy="584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78000" cy="584200"/>
            </a:xfrm>
            <a:custGeom>
              <a:avLst/>
              <a:gdLst/>
              <a:ahLst/>
              <a:cxnLst/>
              <a:rect r="r" b="b" t="t" l="l"/>
              <a:pathLst>
                <a:path h="584200" w="1778000">
                  <a:moveTo>
                    <a:pt x="53340" y="0"/>
                  </a:moveTo>
                  <a:lnTo>
                    <a:pt x="1724660" y="0"/>
                  </a:lnTo>
                  <a:cubicBezTo>
                    <a:pt x="1754119" y="0"/>
                    <a:pt x="1778000" y="26156"/>
                    <a:pt x="1778000" y="58420"/>
                  </a:cubicBezTo>
                  <a:lnTo>
                    <a:pt x="1778000" y="525780"/>
                  </a:lnTo>
                  <a:cubicBezTo>
                    <a:pt x="1778000" y="558044"/>
                    <a:pt x="1754119" y="584200"/>
                    <a:pt x="1724660" y="584200"/>
                  </a:cubicBezTo>
                  <a:lnTo>
                    <a:pt x="53340" y="584200"/>
                  </a:lnTo>
                  <a:cubicBezTo>
                    <a:pt x="39193" y="584200"/>
                    <a:pt x="25626" y="578045"/>
                    <a:pt x="15623" y="567089"/>
                  </a:cubicBezTo>
                  <a:cubicBezTo>
                    <a:pt x="5620" y="556133"/>
                    <a:pt x="0" y="541274"/>
                    <a:pt x="0" y="525780"/>
                  </a:cubicBezTo>
                  <a:lnTo>
                    <a:pt x="0" y="58420"/>
                  </a:lnTo>
                  <a:cubicBezTo>
                    <a:pt x="0" y="26156"/>
                    <a:pt x="23881" y="0"/>
                    <a:pt x="53340" y="0"/>
                  </a:cubicBez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7780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2077700" y="1362075"/>
            <a:ext cx="133350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22"/>
              </a:lnSpc>
              <a:spcBef>
                <a:spcPct val="0"/>
              </a:spcBef>
            </a:pPr>
            <a:r>
              <a:rPr lang="en-US" b="true" sz="1444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+ Add Drone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819400" y="2085975"/>
            <a:ext cx="1047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ID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962400" y="2085975"/>
            <a:ext cx="1809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Model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867400" y="2076450"/>
            <a:ext cx="180975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Type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772400" y="2085975"/>
            <a:ext cx="1809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Payload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677400" y="2085975"/>
            <a:ext cx="1333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</a:p>
        </p:txBody>
      </p:sp>
      <p:sp>
        <p:nvSpPr>
          <p:cNvPr name="AutoShape 60" id="60"/>
          <p:cNvSpPr/>
          <p:nvPr/>
        </p:nvSpPr>
        <p:spPr>
          <a:xfrm>
            <a:off x="2819400" y="238125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1" id="61"/>
          <p:cNvSpPr txBox="true"/>
          <p:nvPr/>
        </p:nvSpPr>
        <p:spPr>
          <a:xfrm rot="0">
            <a:off x="2819400" y="2533650"/>
            <a:ext cx="1047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DR-001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962400" y="2533650"/>
            <a:ext cx="1809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Aeris X4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867400" y="2524125"/>
            <a:ext cx="180975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Quadcopter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772400" y="2533650"/>
            <a:ext cx="1809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LiDAR + RGB Camera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9677400" y="2533650"/>
            <a:ext cx="923925" cy="247650"/>
            <a:chOff x="0" y="0"/>
            <a:chExt cx="1231900" cy="330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31900" cy="330200"/>
            </a:xfrm>
            <a:custGeom>
              <a:avLst/>
              <a:gdLst/>
              <a:ahLst/>
              <a:cxnLst/>
              <a:rect r="r" b="b" t="t" l="l"/>
              <a:pathLst>
                <a:path h="330200" w="1231900">
                  <a:moveTo>
                    <a:pt x="1066800" y="0"/>
                  </a:moveTo>
                  <a:cubicBezTo>
                    <a:pt x="1157982" y="0"/>
                    <a:pt x="1231900" y="73918"/>
                    <a:pt x="1231900" y="165100"/>
                  </a:cubicBezTo>
                  <a:cubicBezTo>
                    <a:pt x="1231900" y="256282"/>
                    <a:pt x="1157982" y="330200"/>
                    <a:pt x="10668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22C55E">
                <a:alpha val="14902"/>
              </a:srgbClr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2319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9667875" y="2543175"/>
            <a:ext cx="92392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Available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819400" y="2952750"/>
            <a:ext cx="1047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DR-006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3962400" y="2952750"/>
            <a:ext cx="1809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Falcon VTOL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5867400" y="2943225"/>
            <a:ext cx="180975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Fixed-Wing VTOL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772400" y="2952750"/>
            <a:ext cx="1809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Multispectral Sensor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9677400" y="2952750"/>
            <a:ext cx="1095375" cy="247650"/>
            <a:chOff x="0" y="0"/>
            <a:chExt cx="1460500" cy="3302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60500" cy="330200"/>
            </a:xfrm>
            <a:custGeom>
              <a:avLst/>
              <a:gdLst/>
              <a:ahLst/>
              <a:cxnLst/>
              <a:rect r="r" b="b" t="t" l="l"/>
              <a:pathLst>
                <a:path h="330200" w="1460500">
                  <a:moveTo>
                    <a:pt x="1295400" y="0"/>
                  </a:moveTo>
                  <a:cubicBezTo>
                    <a:pt x="1386582" y="0"/>
                    <a:pt x="1460500" y="73918"/>
                    <a:pt x="1460500" y="165100"/>
                  </a:cubicBezTo>
                  <a:cubicBezTo>
                    <a:pt x="1460500" y="256282"/>
                    <a:pt x="1386582" y="330200"/>
                    <a:pt x="12954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E6A817">
                <a:alpha val="14902"/>
              </a:srgbClr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4605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9667875" y="2962275"/>
            <a:ext cx="109537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E6A817"/>
                </a:solidFill>
                <a:latin typeface="Inter"/>
                <a:ea typeface="Inter"/>
                <a:cs typeface="Inter"/>
                <a:sym typeface="Inter"/>
              </a:rPr>
              <a:t>Maintenance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2819400" y="3371850"/>
            <a:ext cx="1047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DR-009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3962400" y="3371850"/>
            <a:ext cx="1809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Kestrel Mini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5867400" y="3362325"/>
            <a:ext cx="180975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Micro Quad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7772400" y="3371850"/>
            <a:ext cx="1809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Thermal Camera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9677400" y="3371850"/>
            <a:ext cx="923925" cy="247650"/>
            <a:chOff x="0" y="0"/>
            <a:chExt cx="1231900" cy="3302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231900" cy="330200"/>
            </a:xfrm>
            <a:custGeom>
              <a:avLst/>
              <a:gdLst/>
              <a:ahLst/>
              <a:cxnLst/>
              <a:rect r="r" b="b" t="t" l="l"/>
              <a:pathLst>
                <a:path h="330200" w="1231900">
                  <a:moveTo>
                    <a:pt x="1066800" y="0"/>
                  </a:moveTo>
                  <a:cubicBezTo>
                    <a:pt x="1157982" y="0"/>
                    <a:pt x="1231900" y="73918"/>
                    <a:pt x="1231900" y="165100"/>
                  </a:cubicBezTo>
                  <a:cubicBezTo>
                    <a:pt x="1231900" y="256282"/>
                    <a:pt x="1157982" y="330200"/>
                    <a:pt x="10668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22C55E">
                <a:alpha val="14902"/>
              </a:srgbClr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2319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9667875" y="3381375"/>
            <a:ext cx="92392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Available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2819400" y="3790950"/>
            <a:ext cx="1047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DR-012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3962400" y="3790950"/>
            <a:ext cx="1809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Aeris X4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5867400" y="3781425"/>
            <a:ext cx="180975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Quadcopter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7772400" y="3790950"/>
            <a:ext cx="1809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Payload Bay (Empty)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9677400" y="3790950"/>
            <a:ext cx="752475" cy="247650"/>
            <a:chOff x="0" y="0"/>
            <a:chExt cx="1003300" cy="3302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03300" cy="330200"/>
            </a:xfrm>
            <a:custGeom>
              <a:avLst/>
              <a:gdLst/>
              <a:ahLst/>
              <a:cxnLst/>
              <a:rect r="r" b="b" t="t" l="l"/>
              <a:pathLst>
                <a:path h="330200" w="1003300">
                  <a:moveTo>
                    <a:pt x="838200" y="0"/>
                  </a:moveTo>
                  <a:cubicBezTo>
                    <a:pt x="929382" y="0"/>
                    <a:pt x="1003300" y="73918"/>
                    <a:pt x="1003300" y="165100"/>
                  </a:cubicBezTo>
                  <a:cubicBezTo>
                    <a:pt x="1003300" y="256282"/>
                    <a:pt x="929382" y="330200"/>
                    <a:pt x="8382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E05252">
                <a:alpha val="14902"/>
              </a:srgbClr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0033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2" id="92"/>
          <p:cNvSpPr txBox="true"/>
          <p:nvPr/>
        </p:nvSpPr>
        <p:spPr>
          <a:xfrm rot="0">
            <a:off x="9667875" y="3800475"/>
            <a:ext cx="75247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E05252"/>
                </a:solidFill>
                <a:latin typeface="Inter"/>
                <a:ea typeface="Inter"/>
                <a:cs typeface="Inter"/>
                <a:sym typeface="Inter"/>
              </a:rPr>
              <a:t>Damaged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2819400" y="4210050"/>
            <a:ext cx="1047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DR-014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3962400" y="4210050"/>
            <a:ext cx="1809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Falcon VTOL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867400" y="4200525"/>
            <a:ext cx="180975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Fixed-Wing VTOL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7772400" y="4210050"/>
            <a:ext cx="1809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RGB + Mapping Kit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9677400" y="4210050"/>
            <a:ext cx="923925" cy="247650"/>
            <a:chOff x="0" y="0"/>
            <a:chExt cx="1231900" cy="3302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231900" cy="330200"/>
            </a:xfrm>
            <a:custGeom>
              <a:avLst/>
              <a:gdLst/>
              <a:ahLst/>
              <a:cxnLst/>
              <a:rect r="r" b="b" t="t" l="l"/>
              <a:pathLst>
                <a:path h="330200" w="1231900">
                  <a:moveTo>
                    <a:pt x="1066800" y="0"/>
                  </a:moveTo>
                  <a:cubicBezTo>
                    <a:pt x="1157982" y="0"/>
                    <a:pt x="1231900" y="73918"/>
                    <a:pt x="1231900" y="165100"/>
                  </a:cubicBezTo>
                  <a:cubicBezTo>
                    <a:pt x="1231900" y="256282"/>
                    <a:pt x="1157982" y="330200"/>
                    <a:pt x="10668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22C55E">
                <a:alpha val="14902"/>
              </a:srgbClr>
            </a:solid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12319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9667875" y="4219575"/>
            <a:ext cx="92392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Available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228600" y="314325"/>
            <a:ext cx="171450" cy="171450"/>
            <a:chOff x="0" y="0"/>
            <a:chExt cx="228600" cy="2286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819400" y="417195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2819400" y="375285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819400" y="333375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819400" y="291465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590800" y="1924050"/>
            <a:ext cx="10820400" cy="4233132"/>
            <a:chOff x="0" y="0"/>
            <a:chExt cx="812800" cy="3179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317982"/>
            </a:xfrm>
            <a:custGeom>
              <a:avLst/>
              <a:gdLst/>
              <a:ahLst/>
              <a:cxnLst/>
              <a:rect r="r" b="b" t="t" l="l"/>
              <a:pathLst>
                <a:path h="317982" w="812800">
                  <a:moveTo>
                    <a:pt x="12879" y="0"/>
                  </a:moveTo>
                  <a:lnTo>
                    <a:pt x="799921" y="0"/>
                  </a:lnTo>
                  <a:cubicBezTo>
                    <a:pt x="807034" y="0"/>
                    <a:pt x="812800" y="5766"/>
                    <a:pt x="812800" y="12879"/>
                  </a:cubicBezTo>
                  <a:lnTo>
                    <a:pt x="812800" y="305103"/>
                  </a:lnTo>
                  <a:cubicBezTo>
                    <a:pt x="812800" y="312216"/>
                    <a:pt x="807034" y="317982"/>
                    <a:pt x="799921" y="317982"/>
                  </a:cubicBezTo>
                  <a:lnTo>
                    <a:pt x="12879" y="317982"/>
                  </a:lnTo>
                  <a:cubicBezTo>
                    <a:pt x="5766" y="317982"/>
                    <a:pt x="0" y="312216"/>
                    <a:pt x="0" y="305103"/>
                  </a:cubicBezTo>
                  <a:lnTo>
                    <a:pt x="0" y="12879"/>
                  </a:lnTo>
                  <a:cubicBezTo>
                    <a:pt x="0" y="5766"/>
                    <a:pt x="5766" y="0"/>
                    <a:pt x="1287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356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200" y="1800225"/>
            <a:ext cx="2133600" cy="323850"/>
            <a:chOff x="0" y="0"/>
            <a:chExt cx="2844800" cy="431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4800" cy="431800"/>
            </a:xfrm>
            <a:custGeom>
              <a:avLst/>
              <a:gdLst/>
              <a:ahLst/>
              <a:cxnLst/>
              <a:rect r="r" b="b" t="t" l="l"/>
              <a:pathLst>
                <a:path h="431800" w="2844800">
                  <a:moveTo>
                    <a:pt x="43180" y="0"/>
                  </a:moveTo>
                  <a:lnTo>
                    <a:pt x="2801620" y="0"/>
                  </a:lnTo>
                  <a:cubicBezTo>
                    <a:pt x="2825468" y="0"/>
                    <a:pt x="2844800" y="19332"/>
                    <a:pt x="2844800" y="43180"/>
                  </a:cubicBezTo>
                  <a:lnTo>
                    <a:pt x="2844800" y="388620"/>
                  </a:lnTo>
                  <a:cubicBezTo>
                    <a:pt x="2844800" y="412468"/>
                    <a:pt x="2825468" y="431800"/>
                    <a:pt x="2801620" y="431800"/>
                  </a:cubicBezTo>
                  <a:lnTo>
                    <a:pt x="43180" y="431800"/>
                  </a:lnTo>
                  <a:cubicBezTo>
                    <a:pt x="19332" y="431800"/>
                    <a:pt x="0" y="412468"/>
                    <a:pt x="0" y="388620"/>
                  </a:cubicBezTo>
                  <a:lnTo>
                    <a:pt x="0" y="43180"/>
                  </a:lnTo>
                  <a:cubicBezTo>
                    <a:pt x="0" y="19332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1A2F4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844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2286000" cy="9753600"/>
            <a:chOff x="0" y="0"/>
            <a:chExt cx="3048000" cy="13004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4800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3004800"/>
                  </a:lnTo>
                  <a:lnTo>
                    <a:pt x="0" y="13004800"/>
                  </a:lnTo>
                  <a:close/>
                </a:path>
              </a:pathLst>
            </a:custGeom>
            <a:solidFill>
              <a:srgbClr val="0A1A2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048000" cy="130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57200" y="142875"/>
            <a:ext cx="19050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Aero</a:t>
            </a:r>
            <a:r>
              <a:rPr lang="en-US" sz="2400" strike="noStrike" u="none">
                <a:solidFill>
                  <a:srgbClr val="0FA3A3"/>
                </a:solidFill>
                <a:latin typeface="DIN Next"/>
                <a:ea typeface="DIN Next"/>
                <a:cs typeface="DIN Next"/>
                <a:sym typeface="DIN Next"/>
              </a:rPr>
              <a:t>Ready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8150" y="10858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8150" y="14478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Drones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8150" y="18097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Batteries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8150" y="21717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Missions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8150" y="25336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Checklists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8150" y="28956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Risk &amp; Approval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8150" y="32575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Maintenance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8150" y="36195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Reports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8150" y="39814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Traceability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38150" y="43434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Users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8150" y="47053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Settings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286000" y="0"/>
            <a:ext cx="11430000" cy="609600"/>
            <a:chOff x="0" y="0"/>
            <a:chExt cx="152400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240000" cy="812800"/>
            </a:xfrm>
            <a:custGeom>
              <a:avLst/>
              <a:gdLst/>
              <a:ahLst/>
              <a:cxnLst/>
              <a:rect r="r" b="b" t="t" l="l"/>
              <a:pathLst>
                <a:path h="8128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52400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144500" y="133350"/>
            <a:ext cx="342900" cy="342900"/>
            <a:chOff x="0" y="0"/>
            <a:chExt cx="457200" cy="457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D1D9E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3144500" y="180975"/>
            <a:ext cx="3429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JD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590800" y="733425"/>
            <a:ext cx="38100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A2B3C"/>
                </a:solidFill>
                <a:latin typeface="DIN Next Bold"/>
                <a:ea typeface="DIN Next Bold"/>
                <a:cs typeface="DIN Next Bold"/>
                <a:sym typeface="DIN Next Bold"/>
              </a:rPr>
              <a:t>Battery Management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28600" y="11144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▣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8600" y="14763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✈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28600" y="18383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0FA3A3"/>
                </a:solidFill>
                <a:latin typeface="Inter"/>
                <a:ea typeface="Inter"/>
                <a:cs typeface="Inter"/>
                <a:sym typeface="Inter"/>
              </a:rPr>
              <a:t>⚡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8600" y="22002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◎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28600" y="25622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☑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8600" y="29241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⚠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28600" y="32861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28600" y="36480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▤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28600" y="40100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⛓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28600" y="43719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👤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28600" y="47339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sp>
        <p:nvSpPr>
          <p:cNvPr name="AutoShape 46" id="46"/>
          <p:cNvSpPr/>
          <p:nvPr/>
        </p:nvSpPr>
        <p:spPr>
          <a:xfrm>
            <a:off x="228600" y="628650"/>
            <a:ext cx="533400" cy="0"/>
          </a:xfrm>
          <a:prstGeom prst="line">
            <a:avLst/>
          </a:prstGeom>
          <a:ln cap="rnd" w="19050">
            <a:solidFill>
              <a:srgbClr val="0F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>
            <a:off x="228600" y="628650"/>
            <a:ext cx="533400" cy="0"/>
          </a:xfrm>
          <a:prstGeom prst="line">
            <a:avLst/>
          </a:prstGeom>
          <a:ln cap="rnd" w="19050">
            <a:solidFill>
              <a:srgbClr val="0FA3A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228600" y="314325"/>
            <a:ext cx="171450" cy="171450"/>
            <a:chOff x="0" y="0"/>
            <a:chExt cx="228600" cy="228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590800" y="1295400"/>
            <a:ext cx="3048000" cy="400050"/>
            <a:chOff x="0" y="0"/>
            <a:chExt cx="4064000" cy="533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064000" cy="533400"/>
            </a:xfrm>
            <a:custGeom>
              <a:avLst/>
              <a:gdLst/>
              <a:ahLst/>
              <a:cxnLst/>
              <a:rect r="r" b="b" t="t" l="l"/>
              <a:pathLst>
                <a:path h="533400" w="4064000">
                  <a:moveTo>
                    <a:pt x="53340" y="0"/>
                  </a:moveTo>
                  <a:lnTo>
                    <a:pt x="4010660" y="0"/>
                  </a:lnTo>
                  <a:cubicBezTo>
                    <a:pt x="4024807" y="0"/>
                    <a:pt x="4038374" y="5620"/>
                    <a:pt x="4048377" y="15623"/>
                  </a:cubicBezTo>
                  <a:cubicBezTo>
                    <a:pt x="4058380" y="25626"/>
                    <a:pt x="4064000" y="39193"/>
                    <a:pt x="4064000" y="53340"/>
                  </a:cubicBezTo>
                  <a:lnTo>
                    <a:pt x="4064000" y="480060"/>
                  </a:lnTo>
                  <a:cubicBezTo>
                    <a:pt x="4064000" y="494207"/>
                    <a:pt x="4058380" y="507774"/>
                    <a:pt x="4048377" y="517777"/>
                  </a:cubicBezTo>
                  <a:cubicBezTo>
                    <a:pt x="4038374" y="527780"/>
                    <a:pt x="4024807" y="533400"/>
                    <a:pt x="4010660" y="533400"/>
                  </a:cubicBezTo>
                  <a:lnTo>
                    <a:pt x="53340" y="533400"/>
                  </a:lnTo>
                  <a:cubicBezTo>
                    <a:pt x="39193" y="533400"/>
                    <a:pt x="25626" y="527780"/>
                    <a:pt x="15623" y="517777"/>
                  </a:cubicBezTo>
                  <a:cubicBezTo>
                    <a:pt x="5620" y="507774"/>
                    <a:pt x="0" y="494207"/>
                    <a:pt x="0" y="480060"/>
                  </a:cubicBezTo>
                  <a:lnTo>
                    <a:pt x="0" y="53340"/>
                  </a:lnTo>
                  <a:cubicBezTo>
                    <a:pt x="0" y="23881"/>
                    <a:pt x="23881" y="0"/>
                    <a:pt x="5334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0640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2819400" y="1362075"/>
            <a:ext cx="27432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Search batteries...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1982450" y="1295400"/>
            <a:ext cx="1428750" cy="438150"/>
            <a:chOff x="0" y="0"/>
            <a:chExt cx="1905000" cy="584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905000" cy="584200"/>
            </a:xfrm>
            <a:custGeom>
              <a:avLst/>
              <a:gdLst/>
              <a:ahLst/>
              <a:cxnLst/>
              <a:rect r="r" b="b" t="t" l="l"/>
              <a:pathLst>
                <a:path h="584200" w="1905000">
                  <a:moveTo>
                    <a:pt x="53340" y="0"/>
                  </a:moveTo>
                  <a:lnTo>
                    <a:pt x="1851660" y="0"/>
                  </a:lnTo>
                  <a:cubicBezTo>
                    <a:pt x="1881119" y="0"/>
                    <a:pt x="1905000" y="26156"/>
                    <a:pt x="1905000" y="58420"/>
                  </a:cubicBezTo>
                  <a:lnTo>
                    <a:pt x="1905000" y="525780"/>
                  </a:lnTo>
                  <a:cubicBezTo>
                    <a:pt x="1905000" y="558044"/>
                    <a:pt x="1881119" y="584200"/>
                    <a:pt x="1851660" y="584200"/>
                  </a:cubicBezTo>
                  <a:lnTo>
                    <a:pt x="53340" y="584200"/>
                  </a:lnTo>
                  <a:cubicBezTo>
                    <a:pt x="39193" y="584200"/>
                    <a:pt x="25626" y="578045"/>
                    <a:pt x="15623" y="567089"/>
                  </a:cubicBezTo>
                  <a:cubicBezTo>
                    <a:pt x="5620" y="556133"/>
                    <a:pt x="0" y="541274"/>
                    <a:pt x="0" y="525780"/>
                  </a:cubicBezTo>
                  <a:lnTo>
                    <a:pt x="0" y="58420"/>
                  </a:lnTo>
                  <a:cubicBezTo>
                    <a:pt x="0" y="26156"/>
                    <a:pt x="23881" y="0"/>
                    <a:pt x="53340" y="0"/>
                  </a:cubicBez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9050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1982450" y="1362075"/>
            <a:ext cx="142875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22"/>
              </a:lnSpc>
              <a:spcBef>
                <a:spcPct val="0"/>
              </a:spcBef>
            </a:pPr>
            <a:r>
              <a:rPr lang="en-US" b="true" sz="1444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+ Add Battery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819400" y="2085975"/>
            <a:ext cx="80962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ID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676650" y="2085975"/>
            <a:ext cx="904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Capacity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629150" y="2085975"/>
            <a:ext cx="904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Charge %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581650" y="2076450"/>
            <a:ext cx="123825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22"/>
              </a:lnSpc>
              <a:spcBef>
                <a:spcPct val="0"/>
              </a:spcBef>
            </a:pPr>
            <a:r>
              <a:rPr lang="en-US" sz="1444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Cycle Count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629400" y="2085975"/>
            <a:ext cx="904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Health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581900" y="2085975"/>
            <a:ext cx="1666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Assigned Drone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296400" y="2085975"/>
            <a:ext cx="1143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Flag</a:t>
            </a:r>
          </a:p>
        </p:txBody>
      </p:sp>
      <p:sp>
        <p:nvSpPr>
          <p:cNvPr name="AutoShape 66" id="66"/>
          <p:cNvSpPr/>
          <p:nvPr/>
        </p:nvSpPr>
        <p:spPr>
          <a:xfrm>
            <a:off x="2819400" y="238125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7" id="67"/>
          <p:cNvSpPr txBox="true"/>
          <p:nvPr/>
        </p:nvSpPr>
        <p:spPr>
          <a:xfrm rot="0">
            <a:off x="2819400" y="2533650"/>
            <a:ext cx="80962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BT-002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676650" y="2533650"/>
            <a:ext cx="904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5200 mAh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629150" y="2533650"/>
            <a:ext cx="904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98%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581650" y="2533650"/>
            <a:ext cx="100012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629400" y="2533650"/>
            <a:ext cx="904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0FA3A3"/>
                </a:solidFill>
                <a:latin typeface="Inter"/>
                <a:ea typeface="Inter"/>
                <a:cs typeface="Inter"/>
                <a:sym typeface="Inter"/>
              </a:rPr>
              <a:t>Good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581900" y="2533650"/>
            <a:ext cx="1666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DR-001 (Aeris X4)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296400" y="2533650"/>
            <a:ext cx="1143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819400" y="2952750"/>
            <a:ext cx="80962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BT-005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3676650" y="2952750"/>
            <a:ext cx="904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4800 mAh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629150" y="2952750"/>
            <a:ext cx="904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15%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581650" y="2952750"/>
            <a:ext cx="100012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187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6629400" y="2952750"/>
            <a:ext cx="904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E6A817"/>
                </a:solidFill>
                <a:latin typeface="Inter"/>
                <a:ea typeface="Inter"/>
                <a:cs typeface="Inter"/>
                <a:sym typeface="Inter"/>
              </a:rPr>
              <a:t>Weak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7581900" y="2952750"/>
            <a:ext cx="1666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DR-006 (Falcon)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9296400" y="2952750"/>
            <a:ext cx="762000" cy="247650"/>
            <a:chOff x="0" y="0"/>
            <a:chExt cx="1016000" cy="330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16000" cy="330200"/>
            </a:xfrm>
            <a:custGeom>
              <a:avLst/>
              <a:gdLst/>
              <a:ahLst/>
              <a:cxnLst/>
              <a:rect r="r" b="b" t="t" l="l"/>
              <a:pathLst>
                <a:path h="330200" w="1016000">
                  <a:moveTo>
                    <a:pt x="850900" y="0"/>
                  </a:moveTo>
                  <a:cubicBezTo>
                    <a:pt x="942082" y="0"/>
                    <a:pt x="1016000" y="73918"/>
                    <a:pt x="1016000" y="165100"/>
                  </a:cubicBezTo>
                  <a:cubicBezTo>
                    <a:pt x="1016000" y="256282"/>
                    <a:pt x="942082" y="330200"/>
                    <a:pt x="850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E6A817">
                <a:alpha val="14902"/>
              </a:srgbClr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0160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9296400" y="2962275"/>
            <a:ext cx="762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E6A817"/>
                </a:solidFill>
                <a:latin typeface="Inter"/>
                <a:ea typeface="Inter"/>
                <a:cs typeface="Inter"/>
                <a:sym typeface="Inter"/>
              </a:rPr>
              <a:t>Inspect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2819400" y="3371850"/>
            <a:ext cx="80962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BT-007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3676650" y="3371850"/>
            <a:ext cx="904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5200 mAh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4629150" y="3371850"/>
            <a:ext cx="904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72%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5581650" y="3371850"/>
            <a:ext cx="100012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63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6629400" y="3371850"/>
            <a:ext cx="904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0FA3A3"/>
                </a:solidFill>
                <a:latin typeface="Inter"/>
                <a:ea typeface="Inter"/>
                <a:cs typeface="Inter"/>
                <a:sym typeface="Inter"/>
              </a:rPr>
              <a:t>Good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7581900" y="3371850"/>
            <a:ext cx="1666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DR-009 (Kestrel)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9296400" y="3371850"/>
            <a:ext cx="1143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2819400" y="3790950"/>
            <a:ext cx="80962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BT-011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3676650" y="3790950"/>
            <a:ext cx="904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4800 mAh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4629150" y="3790950"/>
            <a:ext cx="904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34%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5581650" y="3790950"/>
            <a:ext cx="100012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210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6629400" y="3790950"/>
            <a:ext cx="904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E05252"/>
                </a:solidFill>
                <a:latin typeface="Inter"/>
                <a:ea typeface="Inter"/>
                <a:cs typeface="Inter"/>
                <a:sym typeface="Inter"/>
              </a:rPr>
              <a:t>Damaged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7581900" y="3790950"/>
            <a:ext cx="1666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Unassigned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9296400" y="3790950"/>
            <a:ext cx="762000" cy="247650"/>
            <a:chOff x="0" y="0"/>
            <a:chExt cx="1016000" cy="3302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16000" cy="330200"/>
            </a:xfrm>
            <a:custGeom>
              <a:avLst/>
              <a:gdLst/>
              <a:ahLst/>
              <a:cxnLst/>
              <a:rect r="r" b="b" t="t" l="l"/>
              <a:pathLst>
                <a:path h="330200" w="1016000">
                  <a:moveTo>
                    <a:pt x="850900" y="0"/>
                  </a:moveTo>
                  <a:cubicBezTo>
                    <a:pt x="942082" y="0"/>
                    <a:pt x="1016000" y="73918"/>
                    <a:pt x="1016000" y="165100"/>
                  </a:cubicBezTo>
                  <a:cubicBezTo>
                    <a:pt x="1016000" y="256282"/>
                    <a:pt x="942082" y="330200"/>
                    <a:pt x="850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E6A817">
                <a:alpha val="14902"/>
              </a:srgbClr>
            </a:solid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10160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9296400" y="3800475"/>
            <a:ext cx="762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E6A817"/>
                </a:solidFill>
                <a:latin typeface="Inter"/>
                <a:ea typeface="Inter"/>
                <a:cs typeface="Inter"/>
                <a:sym typeface="Inter"/>
              </a:rPr>
              <a:t>Inspect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2819400" y="4210050"/>
            <a:ext cx="80962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BT-014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3676650" y="4210050"/>
            <a:ext cx="904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5200 mAh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4629150" y="4210050"/>
            <a:ext cx="904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5581650" y="4210050"/>
            <a:ext cx="100012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6629400" y="4210050"/>
            <a:ext cx="904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0FA3A3"/>
                </a:solidFill>
                <a:latin typeface="Inter"/>
                <a:ea typeface="Inter"/>
                <a:cs typeface="Inter"/>
                <a:sym typeface="Inter"/>
              </a:rPr>
              <a:t>Good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7581900" y="4210050"/>
            <a:ext cx="16668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DR-014 (Falcon)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9296400" y="4210050"/>
            <a:ext cx="1143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90800" y="4343400"/>
            <a:ext cx="10820400" cy="4966443"/>
            <a:chOff x="0" y="0"/>
            <a:chExt cx="812800" cy="3730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73066"/>
            </a:xfrm>
            <a:custGeom>
              <a:avLst/>
              <a:gdLst/>
              <a:ahLst/>
              <a:cxnLst/>
              <a:rect r="r" b="b" t="t" l="l"/>
              <a:pathLst>
                <a:path h="373066" w="812800">
                  <a:moveTo>
                    <a:pt x="12879" y="0"/>
                  </a:moveTo>
                  <a:lnTo>
                    <a:pt x="799921" y="0"/>
                  </a:lnTo>
                  <a:cubicBezTo>
                    <a:pt x="807034" y="0"/>
                    <a:pt x="812800" y="5766"/>
                    <a:pt x="812800" y="12879"/>
                  </a:cubicBezTo>
                  <a:lnTo>
                    <a:pt x="812800" y="360187"/>
                  </a:lnTo>
                  <a:cubicBezTo>
                    <a:pt x="812800" y="367300"/>
                    <a:pt x="807034" y="373066"/>
                    <a:pt x="799921" y="373066"/>
                  </a:cubicBezTo>
                  <a:lnTo>
                    <a:pt x="12879" y="373066"/>
                  </a:lnTo>
                  <a:cubicBezTo>
                    <a:pt x="5766" y="373066"/>
                    <a:pt x="0" y="367300"/>
                    <a:pt x="0" y="360187"/>
                  </a:cubicBezTo>
                  <a:lnTo>
                    <a:pt x="0" y="12879"/>
                  </a:lnTo>
                  <a:cubicBezTo>
                    <a:pt x="0" y="5766"/>
                    <a:pt x="5766" y="0"/>
                    <a:pt x="1287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411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2819400" y="375285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819400" y="333375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2819400" y="291465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2590800" y="1924050"/>
            <a:ext cx="10820400" cy="7385793"/>
            <a:chOff x="0" y="0"/>
            <a:chExt cx="812800" cy="5548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554801"/>
            </a:xfrm>
            <a:custGeom>
              <a:avLst/>
              <a:gdLst/>
              <a:ahLst/>
              <a:cxnLst/>
              <a:rect r="r" b="b" t="t" l="l"/>
              <a:pathLst>
                <a:path h="554801" w="812800">
                  <a:moveTo>
                    <a:pt x="12879" y="0"/>
                  </a:moveTo>
                  <a:lnTo>
                    <a:pt x="799921" y="0"/>
                  </a:lnTo>
                  <a:cubicBezTo>
                    <a:pt x="807034" y="0"/>
                    <a:pt x="812800" y="5766"/>
                    <a:pt x="812800" y="12879"/>
                  </a:cubicBezTo>
                  <a:lnTo>
                    <a:pt x="812800" y="541922"/>
                  </a:lnTo>
                  <a:cubicBezTo>
                    <a:pt x="812800" y="549035"/>
                    <a:pt x="807034" y="554801"/>
                    <a:pt x="799921" y="554801"/>
                  </a:cubicBezTo>
                  <a:lnTo>
                    <a:pt x="12879" y="554801"/>
                  </a:lnTo>
                  <a:cubicBezTo>
                    <a:pt x="5766" y="554801"/>
                    <a:pt x="0" y="549035"/>
                    <a:pt x="0" y="541922"/>
                  </a:cubicBezTo>
                  <a:lnTo>
                    <a:pt x="0" y="12879"/>
                  </a:lnTo>
                  <a:cubicBezTo>
                    <a:pt x="0" y="5766"/>
                    <a:pt x="5766" y="0"/>
                    <a:pt x="1287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592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200" y="2171700"/>
            <a:ext cx="2133600" cy="323850"/>
            <a:chOff x="0" y="0"/>
            <a:chExt cx="2844800" cy="431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4800" cy="431800"/>
            </a:xfrm>
            <a:custGeom>
              <a:avLst/>
              <a:gdLst/>
              <a:ahLst/>
              <a:cxnLst/>
              <a:rect r="r" b="b" t="t" l="l"/>
              <a:pathLst>
                <a:path h="431800" w="2844800">
                  <a:moveTo>
                    <a:pt x="43180" y="0"/>
                  </a:moveTo>
                  <a:lnTo>
                    <a:pt x="2801620" y="0"/>
                  </a:lnTo>
                  <a:cubicBezTo>
                    <a:pt x="2825468" y="0"/>
                    <a:pt x="2844800" y="19332"/>
                    <a:pt x="2844800" y="43180"/>
                  </a:cubicBezTo>
                  <a:lnTo>
                    <a:pt x="2844800" y="388620"/>
                  </a:lnTo>
                  <a:cubicBezTo>
                    <a:pt x="2844800" y="412468"/>
                    <a:pt x="2825468" y="431800"/>
                    <a:pt x="2801620" y="431800"/>
                  </a:cubicBezTo>
                  <a:lnTo>
                    <a:pt x="43180" y="431800"/>
                  </a:lnTo>
                  <a:cubicBezTo>
                    <a:pt x="19332" y="431800"/>
                    <a:pt x="0" y="412468"/>
                    <a:pt x="0" y="388620"/>
                  </a:cubicBezTo>
                  <a:lnTo>
                    <a:pt x="0" y="43180"/>
                  </a:lnTo>
                  <a:cubicBezTo>
                    <a:pt x="0" y="19332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1A2F4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4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2286000" cy="9753600"/>
            <a:chOff x="0" y="0"/>
            <a:chExt cx="3048000" cy="13004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4800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3004800"/>
                  </a:lnTo>
                  <a:lnTo>
                    <a:pt x="0" y="13004800"/>
                  </a:lnTo>
                  <a:close/>
                </a:path>
              </a:pathLst>
            </a:custGeom>
            <a:solidFill>
              <a:srgbClr val="0A1A2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048000" cy="130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57200" y="142875"/>
            <a:ext cx="19050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Aero</a:t>
            </a:r>
            <a:r>
              <a:rPr lang="en-US" sz="2400" strike="noStrike" u="none">
                <a:solidFill>
                  <a:srgbClr val="0FA3A3"/>
                </a:solidFill>
                <a:latin typeface="DIN Next"/>
                <a:ea typeface="DIN Next"/>
                <a:cs typeface="DIN Next"/>
                <a:sym typeface="DIN Next"/>
              </a:rPr>
              <a:t>Ready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8150" y="10858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8150" y="14478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Drones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8150" y="18097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Batteries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8150" y="21717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Missions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8150" y="25336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Checklists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8150" y="28956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Risk &amp; Approval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8150" y="32575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Maintenance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38150" y="36195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Reports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8150" y="39814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Traceability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38150" y="43434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Users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38150" y="47053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Settings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286000" y="0"/>
            <a:ext cx="11430000" cy="609600"/>
            <a:chOff x="0" y="0"/>
            <a:chExt cx="152400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00" cy="812800"/>
            </a:xfrm>
            <a:custGeom>
              <a:avLst/>
              <a:gdLst/>
              <a:ahLst/>
              <a:cxnLst/>
              <a:rect r="r" b="b" t="t" l="l"/>
              <a:pathLst>
                <a:path h="8128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52400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144500" y="133350"/>
            <a:ext cx="342900" cy="342900"/>
            <a:chOff x="0" y="0"/>
            <a:chExt cx="457200" cy="457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D1D9E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144500" y="180975"/>
            <a:ext cx="3429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JD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590800" y="733425"/>
            <a:ext cx="28575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A2B3C"/>
                </a:solidFill>
                <a:latin typeface="DIN Next Bold"/>
                <a:ea typeface="DIN Next Bold"/>
                <a:cs typeface="DIN Next Bold"/>
                <a:sym typeface="DIN Next Bold"/>
              </a:rPr>
              <a:t>Missions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28600" y="11144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▣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8600" y="14763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✈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28600" y="18383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⚡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8600" y="22002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◎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28600" y="29241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⚠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28600" y="25622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☑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28600" y="32861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28600" y="36480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▤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28600" y="40100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⛓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28600" y="43719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👤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28600" y="47339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sp>
        <p:nvSpPr>
          <p:cNvPr name="AutoShape 48" id="48"/>
          <p:cNvSpPr/>
          <p:nvPr/>
        </p:nvSpPr>
        <p:spPr>
          <a:xfrm>
            <a:off x="228600" y="628650"/>
            <a:ext cx="533400" cy="0"/>
          </a:xfrm>
          <a:prstGeom prst="line">
            <a:avLst/>
          </a:prstGeom>
          <a:ln cap="rnd" w="19050">
            <a:solidFill>
              <a:srgbClr val="0FA3A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9" id="49"/>
          <p:cNvGrpSpPr/>
          <p:nvPr/>
        </p:nvGrpSpPr>
        <p:grpSpPr>
          <a:xfrm rot="0">
            <a:off x="228600" y="314325"/>
            <a:ext cx="171450" cy="171450"/>
            <a:chOff x="0" y="0"/>
            <a:chExt cx="228600" cy="228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590800" y="1295400"/>
            <a:ext cx="3048000" cy="400050"/>
            <a:chOff x="0" y="0"/>
            <a:chExt cx="4064000" cy="533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064000" cy="533400"/>
            </a:xfrm>
            <a:custGeom>
              <a:avLst/>
              <a:gdLst/>
              <a:ahLst/>
              <a:cxnLst/>
              <a:rect r="r" b="b" t="t" l="l"/>
              <a:pathLst>
                <a:path h="533400" w="4064000">
                  <a:moveTo>
                    <a:pt x="53340" y="0"/>
                  </a:moveTo>
                  <a:lnTo>
                    <a:pt x="4010660" y="0"/>
                  </a:lnTo>
                  <a:cubicBezTo>
                    <a:pt x="4024807" y="0"/>
                    <a:pt x="4038374" y="5620"/>
                    <a:pt x="4048377" y="15623"/>
                  </a:cubicBezTo>
                  <a:cubicBezTo>
                    <a:pt x="4058380" y="25626"/>
                    <a:pt x="4064000" y="39193"/>
                    <a:pt x="4064000" y="53340"/>
                  </a:cubicBezTo>
                  <a:lnTo>
                    <a:pt x="4064000" y="480060"/>
                  </a:lnTo>
                  <a:cubicBezTo>
                    <a:pt x="4064000" y="494207"/>
                    <a:pt x="4058380" y="507774"/>
                    <a:pt x="4048377" y="517777"/>
                  </a:cubicBezTo>
                  <a:cubicBezTo>
                    <a:pt x="4038374" y="527780"/>
                    <a:pt x="4024807" y="533400"/>
                    <a:pt x="4010660" y="533400"/>
                  </a:cubicBezTo>
                  <a:lnTo>
                    <a:pt x="53340" y="533400"/>
                  </a:lnTo>
                  <a:cubicBezTo>
                    <a:pt x="39193" y="533400"/>
                    <a:pt x="25626" y="527780"/>
                    <a:pt x="15623" y="517777"/>
                  </a:cubicBezTo>
                  <a:cubicBezTo>
                    <a:pt x="5620" y="507774"/>
                    <a:pt x="0" y="494207"/>
                    <a:pt x="0" y="480060"/>
                  </a:cubicBezTo>
                  <a:lnTo>
                    <a:pt x="0" y="53340"/>
                  </a:lnTo>
                  <a:cubicBezTo>
                    <a:pt x="0" y="23881"/>
                    <a:pt x="23881" y="0"/>
                    <a:pt x="5334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40640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2819400" y="1362075"/>
            <a:ext cx="27432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Search missions...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1887200" y="1295400"/>
            <a:ext cx="1524000" cy="438150"/>
            <a:chOff x="0" y="0"/>
            <a:chExt cx="2032000" cy="584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32000" cy="584200"/>
            </a:xfrm>
            <a:custGeom>
              <a:avLst/>
              <a:gdLst/>
              <a:ahLst/>
              <a:cxnLst/>
              <a:rect r="r" b="b" t="t" l="l"/>
              <a:pathLst>
                <a:path h="584200" w="2032000">
                  <a:moveTo>
                    <a:pt x="53340" y="0"/>
                  </a:moveTo>
                  <a:lnTo>
                    <a:pt x="1978660" y="0"/>
                  </a:lnTo>
                  <a:cubicBezTo>
                    <a:pt x="2008119" y="0"/>
                    <a:pt x="2032000" y="26156"/>
                    <a:pt x="2032000" y="58420"/>
                  </a:cubicBezTo>
                  <a:lnTo>
                    <a:pt x="2032000" y="525780"/>
                  </a:lnTo>
                  <a:cubicBezTo>
                    <a:pt x="2032000" y="558044"/>
                    <a:pt x="2008119" y="584200"/>
                    <a:pt x="1978660" y="584200"/>
                  </a:cubicBezTo>
                  <a:lnTo>
                    <a:pt x="53340" y="584200"/>
                  </a:lnTo>
                  <a:cubicBezTo>
                    <a:pt x="39193" y="584200"/>
                    <a:pt x="25626" y="578045"/>
                    <a:pt x="15623" y="567089"/>
                  </a:cubicBezTo>
                  <a:cubicBezTo>
                    <a:pt x="5620" y="556133"/>
                    <a:pt x="0" y="541274"/>
                    <a:pt x="0" y="525780"/>
                  </a:cubicBezTo>
                  <a:lnTo>
                    <a:pt x="0" y="58420"/>
                  </a:lnTo>
                  <a:cubicBezTo>
                    <a:pt x="0" y="26156"/>
                    <a:pt x="23881" y="0"/>
                    <a:pt x="53340" y="0"/>
                  </a:cubicBez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0320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1887200" y="1362075"/>
            <a:ext cx="152400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22"/>
              </a:lnSpc>
              <a:spcBef>
                <a:spcPct val="0"/>
              </a:spcBef>
            </a:pPr>
            <a:r>
              <a:rPr lang="en-US" b="true" sz="1444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+ Create Mission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819400" y="2085975"/>
            <a:ext cx="2952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Mission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867400" y="2085975"/>
            <a:ext cx="1238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Drone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200900" y="2085975"/>
            <a:ext cx="1238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Operator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534400" y="2085975"/>
            <a:ext cx="1619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Scheduled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248900" y="2085975"/>
            <a:ext cx="1905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</a:p>
        </p:txBody>
      </p:sp>
      <p:sp>
        <p:nvSpPr>
          <p:cNvPr name="AutoShape 65" id="65"/>
          <p:cNvSpPr/>
          <p:nvPr/>
        </p:nvSpPr>
        <p:spPr>
          <a:xfrm>
            <a:off x="2819400" y="238125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6" id="66"/>
          <p:cNvSpPr txBox="true"/>
          <p:nvPr/>
        </p:nvSpPr>
        <p:spPr>
          <a:xfrm rot="0">
            <a:off x="2819400" y="2533650"/>
            <a:ext cx="2952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Perimeter Survey — Sector B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5867400" y="2533650"/>
            <a:ext cx="1238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DR-001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200900" y="2533650"/>
            <a:ext cx="1238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A. Martinez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8534400" y="2533650"/>
            <a:ext cx="1619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Jul 16, 08:00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0248900" y="2533650"/>
            <a:ext cx="1428750" cy="247650"/>
            <a:chOff x="0" y="0"/>
            <a:chExt cx="1905000" cy="3302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905000" cy="330200"/>
            </a:xfrm>
            <a:custGeom>
              <a:avLst/>
              <a:gdLst/>
              <a:ahLst/>
              <a:cxnLst/>
              <a:rect r="r" b="b" t="t" l="l"/>
              <a:pathLst>
                <a:path h="330200" w="1905000">
                  <a:moveTo>
                    <a:pt x="1739900" y="0"/>
                  </a:moveTo>
                  <a:cubicBezTo>
                    <a:pt x="1831082" y="0"/>
                    <a:pt x="1905000" y="73918"/>
                    <a:pt x="1905000" y="165100"/>
                  </a:cubicBezTo>
                  <a:cubicBezTo>
                    <a:pt x="1905000" y="256282"/>
                    <a:pt x="1831082" y="330200"/>
                    <a:pt x="1739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E6A817">
                <a:alpha val="14902"/>
              </a:srgbClr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9050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0248900" y="2543175"/>
            <a:ext cx="14287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E6A817"/>
                </a:solidFill>
                <a:latin typeface="Inter"/>
                <a:ea typeface="Inter"/>
                <a:cs typeface="Inter"/>
                <a:sym typeface="Inter"/>
              </a:rPr>
              <a:t>Pending Checklist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819400" y="2952750"/>
            <a:ext cx="2952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Payload Drop Test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867400" y="2952750"/>
            <a:ext cx="1238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DR-006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7200900" y="2952750"/>
            <a:ext cx="1238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J. Chen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8534400" y="2952750"/>
            <a:ext cx="1619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Jul 17, 10:30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0248900" y="2952750"/>
            <a:ext cx="1524000" cy="247650"/>
            <a:chOff x="0" y="0"/>
            <a:chExt cx="2032000" cy="330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032000" cy="330200"/>
            </a:xfrm>
            <a:custGeom>
              <a:avLst/>
              <a:gdLst/>
              <a:ahLst/>
              <a:cxnLst/>
              <a:rect r="r" b="b" t="t" l="l"/>
              <a:pathLst>
                <a:path h="330200" w="2032000">
                  <a:moveTo>
                    <a:pt x="1866900" y="0"/>
                  </a:moveTo>
                  <a:cubicBezTo>
                    <a:pt x="1958082" y="0"/>
                    <a:pt x="2032000" y="73918"/>
                    <a:pt x="2032000" y="165100"/>
                  </a:cubicBezTo>
                  <a:cubicBezTo>
                    <a:pt x="2032000" y="256282"/>
                    <a:pt x="1958082" y="330200"/>
                    <a:pt x="1866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0FA3A3">
                <a:alpha val="14902"/>
              </a:srgbClr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20320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10248900" y="2962275"/>
            <a:ext cx="1524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0FA3A3"/>
                </a:solidFill>
                <a:latin typeface="Inter"/>
                <a:ea typeface="Inter"/>
                <a:cs typeface="Inter"/>
                <a:sym typeface="Inter"/>
              </a:rPr>
              <a:t>Awaiting Approval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2819400" y="3371850"/>
            <a:ext cx="2952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Thermal Mapping Run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5867400" y="3371850"/>
            <a:ext cx="1238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DR-009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7200900" y="3371850"/>
            <a:ext cx="1238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S. Patel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8534400" y="3371850"/>
            <a:ext cx="1619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Jul 18, 06:00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0248900" y="3371850"/>
            <a:ext cx="571500" cy="247650"/>
            <a:chOff x="0" y="0"/>
            <a:chExt cx="762000" cy="3302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62000" cy="330200"/>
            </a:xfrm>
            <a:custGeom>
              <a:avLst/>
              <a:gdLst/>
              <a:ahLst/>
              <a:cxnLst/>
              <a:rect r="r" b="b" t="t" l="l"/>
              <a:pathLst>
                <a:path h="330200" w="762000">
                  <a:moveTo>
                    <a:pt x="596900" y="0"/>
                  </a:moveTo>
                  <a:cubicBezTo>
                    <a:pt x="688082" y="0"/>
                    <a:pt x="762000" y="73918"/>
                    <a:pt x="762000" y="165100"/>
                  </a:cubicBezTo>
                  <a:cubicBezTo>
                    <a:pt x="762000" y="256282"/>
                    <a:pt x="688082" y="330200"/>
                    <a:pt x="596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7A8FA0">
                <a:alpha val="14902"/>
              </a:srgbClr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7620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10248900" y="3381375"/>
            <a:ext cx="571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Draft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2819400" y="3790950"/>
            <a:ext cx="2952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Infrastructure Scan — Zone D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5867400" y="3790950"/>
            <a:ext cx="1238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DR-014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7200900" y="3790950"/>
            <a:ext cx="1238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R. Kim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8534400" y="3790950"/>
            <a:ext cx="1619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Jul 19, 09:00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10248900" y="3790950"/>
            <a:ext cx="1428750" cy="247650"/>
            <a:chOff x="0" y="0"/>
            <a:chExt cx="1905000" cy="3302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905000" cy="330200"/>
            </a:xfrm>
            <a:custGeom>
              <a:avLst/>
              <a:gdLst/>
              <a:ahLst/>
              <a:cxnLst/>
              <a:rect r="r" b="b" t="t" l="l"/>
              <a:pathLst>
                <a:path h="330200" w="1905000">
                  <a:moveTo>
                    <a:pt x="1739900" y="0"/>
                  </a:moveTo>
                  <a:cubicBezTo>
                    <a:pt x="1831082" y="0"/>
                    <a:pt x="1905000" y="73918"/>
                    <a:pt x="1905000" y="165100"/>
                  </a:cubicBezTo>
                  <a:cubicBezTo>
                    <a:pt x="1905000" y="256282"/>
                    <a:pt x="1831082" y="330200"/>
                    <a:pt x="1739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E6A817">
                <a:alpha val="14902"/>
              </a:srgbClr>
            </a:solid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19050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7" id="97"/>
          <p:cNvSpPr txBox="true"/>
          <p:nvPr/>
        </p:nvSpPr>
        <p:spPr>
          <a:xfrm rot="0">
            <a:off x="10248900" y="3800475"/>
            <a:ext cx="14287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E6A817"/>
                </a:solidFill>
                <a:latin typeface="Inter"/>
                <a:ea typeface="Inter"/>
                <a:cs typeface="Inter"/>
                <a:sym typeface="Inter"/>
              </a:rPr>
              <a:t>Pending Checklist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2819400" y="4495800"/>
            <a:ext cx="2857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1A2B3C"/>
                </a:solidFill>
                <a:latin typeface="Inter Bold"/>
                <a:ea typeface="Inter Bold"/>
                <a:cs typeface="Inter Bold"/>
                <a:sym typeface="Inter Bold"/>
              </a:rPr>
              <a:t>Create Mission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2819400" y="4886325"/>
            <a:ext cx="50673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Objective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2819400" y="5143500"/>
            <a:ext cx="5067300" cy="361950"/>
            <a:chOff x="0" y="0"/>
            <a:chExt cx="6756400" cy="4826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756400" cy="482600"/>
            </a:xfrm>
            <a:custGeom>
              <a:avLst/>
              <a:gdLst/>
              <a:ahLst/>
              <a:cxnLst/>
              <a:rect r="r" b="b" t="t" l="l"/>
              <a:pathLst>
                <a:path h="482600" w="6756400">
                  <a:moveTo>
                    <a:pt x="48260" y="0"/>
                  </a:moveTo>
                  <a:lnTo>
                    <a:pt x="6708140" y="0"/>
                  </a:lnTo>
                  <a:cubicBezTo>
                    <a:pt x="6734794" y="0"/>
                    <a:pt x="6756400" y="21607"/>
                    <a:pt x="6756400" y="48260"/>
                  </a:cubicBezTo>
                  <a:lnTo>
                    <a:pt x="6756400" y="434340"/>
                  </a:lnTo>
                  <a:cubicBezTo>
                    <a:pt x="6756400" y="460993"/>
                    <a:pt x="6734794" y="482600"/>
                    <a:pt x="6708140" y="482600"/>
                  </a:cubicBezTo>
                  <a:lnTo>
                    <a:pt x="48260" y="482600"/>
                  </a:lnTo>
                  <a:cubicBezTo>
                    <a:pt x="21607" y="482600"/>
                    <a:pt x="0" y="460993"/>
                    <a:pt x="0" y="434340"/>
                  </a:cubicBezTo>
                  <a:lnTo>
                    <a:pt x="0" y="48260"/>
                  </a:lnTo>
                  <a:cubicBezTo>
                    <a:pt x="0" y="21607"/>
                    <a:pt x="21607" y="0"/>
                    <a:pt x="4826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67564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2933700" y="5191125"/>
            <a:ext cx="48387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e.g. Perimeter inspection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2819400" y="5705475"/>
            <a:ext cx="50673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Location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2819400" y="5962650"/>
            <a:ext cx="5067300" cy="361950"/>
            <a:chOff x="0" y="0"/>
            <a:chExt cx="6756400" cy="4826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756400" cy="482600"/>
            </a:xfrm>
            <a:custGeom>
              <a:avLst/>
              <a:gdLst/>
              <a:ahLst/>
              <a:cxnLst/>
              <a:rect r="r" b="b" t="t" l="l"/>
              <a:pathLst>
                <a:path h="482600" w="6756400">
                  <a:moveTo>
                    <a:pt x="48260" y="0"/>
                  </a:moveTo>
                  <a:lnTo>
                    <a:pt x="6708140" y="0"/>
                  </a:lnTo>
                  <a:cubicBezTo>
                    <a:pt x="6734794" y="0"/>
                    <a:pt x="6756400" y="21607"/>
                    <a:pt x="6756400" y="48260"/>
                  </a:cubicBezTo>
                  <a:lnTo>
                    <a:pt x="6756400" y="434340"/>
                  </a:lnTo>
                  <a:cubicBezTo>
                    <a:pt x="6756400" y="460993"/>
                    <a:pt x="6734794" y="482600"/>
                    <a:pt x="6708140" y="482600"/>
                  </a:cubicBezTo>
                  <a:lnTo>
                    <a:pt x="48260" y="482600"/>
                  </a:lnTo>
                  <a:cubicBezTo>
                    <a:pt x="21607" y="482600"/>
                    <a:pt x="0" y="460993"/>
                    <a:pt x="0" y="434340"/>
                  </a:cubicBezTo>
                  <a:lnTo>
                    <a:pt x="0" y="48260"/>
                  </a:lnTo>
                  <a:cubicBezTo>
                    <a:pt x="0" y="21607"/>
                    <a:pt x="21607" y="0"/>
                    <a:pt x="4826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67564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2933700" y="6010275"/>
            <a:ext cx="48387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e.g. Sector B, North Campus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2819400" y="6524625"/>
            <a:ext cx="50673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Date &amp; Time</a:t>
            </a:r>
          </a:p>
        </p:txBody>
      </p:sp>
      <p:grpSp>
        <p:nvGrpSpPr>
          <p:cNvPr name="Group 110" id="110"/>
          <p:cNvGrpSpPr/>
          <p:nvPr/>
        </p:nvGrpSpPr>
        <p:grpSpPr>
          <a:xfrm rot="0">
            <a:off x="2819400" y="6781800"/>
            <a:ext cx="5067300" cy="361950"/>
            <a:chOff x="0" y="0"/>
            <a:chExt cx="6756400" cy="4826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756400" cy="482600"/>
            </a:xfrm>
            <a:custGeom>
              <a:avLst/>
              <a:gdLst/>
              <a:ahLst/>
              <a:cxnLst/>
              <a:rect r="r" b="b" t="t" l="l"/>
              <a:pathLst>
                <a:path h="482600" w="6756400">
                  <a:moveTo>
                    <a:pt x="48260" y="0"/>
                  </a:moveTo>
                  <a:lnTo>
                    <a:pt x="6708140" y="0"/>
                  </a:lnTo>
                  <a:cubicBezTo>
                    <a:pt x="6734794" y="0"/>
                    <a:pt x="6756400" y="21607"/>
                    <a:pt x="6756400" y="48260"/>
                  </a:cubicBezTo>
                  <a:lnTo>
                    <a:pt x="6756400" y="434340"/>
                  </a:lnTo>
                  <a:cubicBezTo>
                    <a:pt x="6756400" y="460993"/>
                    <a:pt x="6734794" y="482600"/>
                    <a:pt x="6708140" y="482600"/>
                  </a:cubicBezTo>
                  <a:lnTo>
                    <a:pt x="48260" y="482600"/>
                  </a:lnTo>
                  <a:cubicBezTo>
                    <a:pt x="21607" y="482600"/>
                    <a:pt x="0" y="460993"/>
                    <a:pt x="0" y="434340"/>
                  </a:cubicBezTo>
                  <a:lnTo>
                    <a:pt x="0" y="48260"/>
                  </a:lnTo>
                  <a:cubicBezTo>
                    <a:pt x="0" y="21607"/>
                    <a:pt x="21607" y="0"/>
                    <a:pt x="4826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67564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3" id="113"/>
          <p:cNvSpPr txBox="true"/>
          <p:nvPr/>
        </p:nvSpPr>
        <p:spPr>
          <a:xfrm rot="0">
            <a:off x="2933700" y="6829425"/>
            <a:ext cx="48387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Select date and time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2819400" y="7343775"/>
            <a:ext cx="50673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Expected Duration</a:t>
            </a:r>
          </a:p>
        </p:txBody>
      </p:sp>
      <p:grpSp>
        <p:nvGrpSpPr>
          <p:cNvPr name="Group 115" id="115"/>
          <p:cNvGrpSpPr/>
          <p:nvPr/>
        </p:nvGrpSpPr>
        <p:grpSpPr>
          <a:xfrm rot="0">
            <a:off x="2819400" y="7600950"/>
            <a:ext cx="5067300" cy="361950"/>
            <a:chOff x="0" y="0"/>
            <a:chExt cx="6756400" cy="4826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756400" cy="482600"/>
            </a:xfrm>
            <a:custGeom>
              <a:avLst/>
              <a:gdLst/>
              <a:ahLst/>
              <a:cxnLst/>
              <a:rect r="r" b="b" t="t" l="l"/>
              <a:pathLst>
                <a:path h="482600" w="6756400">
                  <a:moveTo>
                    <a:pt x="48260" y="0"/>
                  </a:moveTo>
                  <a:lnTo>
                    <a:pt x="6708140" y="0"/>
                  </a:lnTo>
                  <a:cubicBezTo>
                    <a:pt x="6734794" y="0"/>
                    <a:pt x="6756400" y="21607"/>
                    <a:pt x="6756400" y="48260"/>
                  </a:cubicBezTo>
                  <a:lnTo>
                    <a:pt x="6756400" y="434340"/>
                  </a:lnTo>
                  <a:cubicBezTo>
                    <a:pt x="6756400" y="460993"/>
                    <a:pt x="6734794" y="482600"/>
                    <a:pt x="6708140" y="482600"/>
                  </a:cubicBezTo>
                  <a:lnTo>
                    <a:pt x="48260" y="482600"/>
                  </a:lnTo>
                  <a:cubicBezTo>
                    <a:pt x="21607" y="482600"/>
                    <a:pt x="0" y="460993"/>
                    <a:pt x="0" y="434340"/>
                  </a:cubicBezTo>
                  <a:lnTo>
                    <a:pt x="0" y="48260"/>
                  </a:lnTo>
                  <a:cubicBezTo>
                    <a:pt x="0" y="21607"/>
                    <a:pt x="21607" y="0"/>
                    <a:pt x="4826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67564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8" id="118"/>
          <p:cNvSpPr txBox="true"/>
          <p:nvPr/>
        </p:nvSpPr>
        <p:spPr>
          <a:xfrm rot="0">
            <a:off x="2933700" y="7648575"/>
            <a:ext cx="48387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e.g. 45 min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8115300" y="4886325"/>
            <a:ext cx="50673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Drone</a:t>
            </a:r>
          </a:p>
        </p:txBody>
      </p:sp>
      <p:grpSp>
        <p:nvGrpSpPr>
          <p:cNvPr name="Group 120" id="120"/>
          <p:cNvGrpSpPr/>
          <p:nvPr/>
        </p:nvGrpSpPr>
        <p:grpSpPr>
          <a:xfrm rot="0">
            <a:off x="8115300" y="5143500"/>
            <a:ext cx="5067300" cy="361950"/>
            <a:chOff x="0" y="0"/>
            <a:chExt cx="6756400" cy="4826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756400" cy="482600"/>
            </a:xfrm>
            <a:custGeom>
              <a:avLst/>
              <a:gdLst/>
              <a:ahLst/>
              <a:cxnLst/>
              <a:rect r="r" b="b" t="t" l="l"/>
              <a:pathLst>
                <a:path h="482600" w="6756400">
                  <a:moveTo>
                    <a:pt x="48260" y="0"/>
                  </a:moveTo>
                  <a:lnTo>
                    <a:pt x="6708140" y="0"/>
                  </a:lnTo>
                  <a:cubicBezTo>
                    <a:pt x="6734794" y="0"/>
                    <a:pt x="6756400" y="21607"/>
                    <a:pt x="6756400" y="48260"/>
                  </a:cubicBezTo>
                  <a:lnTo>
                    <a:pt x="6756400" y="434340"/>
                  </a:lnTo>
                  <a:cubicBezTo>
                    <a:pt x="6756400" y="460993"/>
                    <a:pt x="6734794" y="482600"/>
                    <a:pt x="6708140" y="482600"/>
                  </a:cubicBezTo>
                  <a:lnTo>
                    <a:pt x="48260" y="482600"/>
                  </a:lnTo>
                  <a:cubicBezTo>
                    <a:pt x="21607" y="482600"/>
                    <a:pt x="0" y="460993"/>
                    <a:pt x="0" y="434340"/>
                  </a:cubicBezTo>
                  <a:lnTo>
                    <a:pt x="0" y="48260"/>
                  </a:lnTo>
                  <a:cubicBezTo>
                    <a:pt x="0" y="21607"/>
                    <a:pt x="21607" y="0"/>
                    <a:pt x="4826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67564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3" id="123"/>
          <p:cNvSpPr txBox="true"/>
          <p:nvPr/>
        </p:nvSpPr>
        <p:spPr>
          <a:xfrm rot="0">
            <a:off x="8229600" y="5191125"/>
            <a:ext cx="48387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Select drone...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8115300" y="5705475"/>
            <a:ext cx="50673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Battery</a:t>
            </a:r>
          </a:p>
        </p:txBody>
      </p:sp>
      <p:grpSp>
        <p:nvGrpSpPr>
          <p:cNvPr name="Group 125" id="125"/>
          <p:cNvGrpSpPr/>
          <p:nvPr/>
        </p:nvGrpSpPr>
        <p:grpSpPr>
          <a:xfrm rot="0">
            <a:off x="8115300" y="5962650"/>
            <a:ext cx="5067300" cy="361950"/>
            <a:chOff x="0" y="0"/>
            <a:chExt cx="6756400" cy="4826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6756400" cy="482600"/>
            </a:xfrm>
            <a:custGeom>
              <a:avLst/>
              <a:gdLst/>
              <a:ahLst/>
              <a:cxnLst/>
              <a:rect r="r" b="b" t="t" l="l"/>
              <a:pathLst>
                <a:path h="482600" w="6756400">
                  <a:moveTo>
                    <a:pt x="48260" y="0"/>
                  </a:moveTo>
                  <a:lnTo>
                    <a:pt x="6708140" y="0"/>
                  </a:lnTo>
                  <a:cubicBezTo>
                    <a:pt x="6734794" y="0"/>
                    <a:pt x="6756400" y="21607"/>
                    <a:pt x="6756400" y="48260"/>
                  </a:cubicBezTo>
                  <a:lnTo>
                    <a:pt x="6756400" y="434340"/>
                  </a:lnTo>
                  <a:cubicBezTo>
                    <a:pt x="6756400" y="460993"/>
                    <a:pt x="6734794" y="482600"/>
                    <a:pt x="6708140" y="482600"/>
                  </a:cubicBezTo>
                  <a:lnTo>
                    <a:pt x="48260" y="482600"/>
                  </a:lnTo>
                  <a:cubicBezTo>
                    <a:pt x="21607" y="482600"/>
                    <a:pt x="0" y="460993"/>
                    <a:pt x="0" y="434340"/>
                  </a:cubicBezTo>
                  <a:lnTo>
                    <a:pt x="0" y="48260"/>
                  </a:lnTo>
                  <a:cubicBezTo>
                    <a:pt x="0" y="21607"/>
                    <a:pt x="21607" y="0"/>
                    <a:pt x="4826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67564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8" id="128"/>
          <p:cNvSpPr txBox="true"/>
          <p:nvPr/>
        </p:nvSpPr>
        <p:spPr>
          <a:xfrm rot="0">
            <a:off x="8229600" y="6010275"/>
            <a:ext cx="48387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Select battery...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8115300" y="6524625"/>
            <a:ext cx="50673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Operator</a:t>
            </a:r>
          </a:p>
        </p:txBody>
      </p:sp>
      <p:grpSp>
        <p:nvGrpSpPr>
          <p:cNvPr name="Group 130" id="130"/>
          <p:cNvGrpSpPr/>
          <p:nvPr/>
        </p:nvGrpSpPr>
        <p:grpSpPr>
          <a:xfrm rot="0">
            <a:off x="8115300" y="6781800"/>
            <a:ext cx="5067300" cy="361950"/>
            <a:chOff x="0" y="0"/>
            <a:chExt cx="6756400" cy="48260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6756400" cy="482600"/>
            </a:xfrm>
            <a:custGeom>
              <a:avLst/>
              <a:gdLst/>
              <a:ahLst/>
              <a:cxnLst/>
              <a:rect r="r" b="b" t="t" l="l"/>
              <a:pathLst>
                <a:path h="482600" w="6756400">
                  <a:moveTo>
                    <a:pt x="48260" y="0"/>
                  </a:moveTo>
                  <a:lnTo>
                    <a:pt x="6708140" y="0"/>
                  </a:lnTo>
                  <a:cubicBezTo>
                    <a:pt x="6734794" y="0"/>
                    <a:pt x="6756400" y="21607"/>
                    <a:pt x="6756400" y="48260"/>
                  </a:cubicBezTo>
                  <a:lnTo>
                    <a:pt x="6756400" y="434340"/>
                  </a:lnTo>
                  <a:cubicBezTo>
                    <a:pt x="6756400" y="460993"/>
                    <a:pt x="6734794" y="482600"/>
                    <a:pt x="6708140" y="482600"/>
                  </a:cubicBezTo>
                  <a:lnTo>
                    <a:pt x="48260" y="482600"/>
                  </a:lnTo>
                  <a:cubicBezTo>
                    <a:pt x="21607" y="482600"/>
                    <a:pt x="0" y="460993"/>
                    <a:pt x="0" y="434340"/>
                  </a:cubicBezTo>
                  <a:lnTo>
                    <a:pt x="0" y="48260"/>
                  </a:lnTo>
                  <a:cubicBezTo>
                    <a:pt x="0" y="21607"/>
                    <a:pt x="21607" y="0"/>
                    <a:pt x="4826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67564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3" id="133"/>
          <p:cNvSpPr txBox="true"/>
          <p:nvPr/>
        </p:nvSpPr>
        <p:spPr>
          <a:xfrm rot="0">
            <a:off x="8229600" y="6829425"/>
            <a:ext cx="48387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Select operator...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8115300" y="7343775"/>
            <a:ext cx="50673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Payload Requirement</a:t>
            </a:r>
          </a:p>
        </p:txBody>
      </p:sp>
      <p:grpSp>
        <p:nvGrpSpPr>
          <p:cNvPr name="Group 135" id="135"/>
          <p:cNvGrpSpPr/>
          <p:nvPr/>
        </p:nvGrpSpPr>
        <p:grpSpPr>
          <a:xfrm rot="0">
            <a:off x="8115300" y="7600950"/>
            <a:ext cx="5067300" cy="361950"/>
            <a:chOff x="0" y="0"/>
            <a:chExt cx="6756400" cy="48260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756400" cy="482600"/>
            </a:xfrm>
            <a:custGeom>
              <a:avLst/>
              <a:gdLst/>
              <a:ahLst/>
              <a:cxnLst/>
              <a:rect r="r" b="b" t="t" l="l"/>
              <a:pathLst>
                <a:path h="482600" w="6756400">
                  <a:moveTo>
                    <a:pt x="48260" y="0"/>
                  </a:moveTo>
                  <a:lnTo>
                    <a:pt x="6708140" y="0"/>
                  </a:lnTo>
                  <a:cubicBezTo>
                    <a:pt x="6734794" y="0"/>
                    <a:pt x="6756400" y="21607"/>
                    <a:pt x="6756400" y="48260"/>
                  </a:cubicBezTo>
                  <a:lnTo>
                    <a:pt x="6756400" y="434340"/>
                  </a:lnTo>
                  <a:cubicBezTo>
                    <a:pt x="6756400" y="460993"/>
                    <a:pt x="6734794" y="482600"/>
                    <a:pt x="6708140" y="482600"/>
                  </a:cubicBezTo>
                  <a:lnTo>
                    <a:pt x="48260" y="482600"/>
                  </a:lnTo>
                  <a:cubicBezTo>
                    <a:pt x="21607" y="482600"/>
                    <a:pt x="0" y="460993"/>
                    <a:pt x="0" y="434340"/>
                  </a:cubicBezTo>
                  <a:lnTo>
                    <a:pt x="0" y="48260"/>
                  </a:lnTo>
                  <a:cubicBezTo>
                    <a:pt x="0" y="21607"/>
                    <a:pt x="21607" y="0"/>
                    <a:pt x="4826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67564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8" id="138"/>
          <p:cNvSpPr txBox="true"/>
          <p:nvPr/>
        </p:nvSpPr>
        <p:spPr>
          <a:xfrm rot="0">
            <a:off x="8229600" y="7648575"/>
            <a:ext cx="48387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Select payload...</a:t>
            </a:r>
          </a:p>
        </p:txBody>
      </p:sp>
      <p:grpSp>
        <p:nvGrpSpPr>
          <p:cNvPr name="Group 139" id="139"/>
          <p:cNvGrpSpPr/>
          <p:nvPr/>
        </p:nvGrpSpPr>
        <p:grpSpPr>
          <a:xfrm rot="0">
            <a:off x="2819400" y="8210550"/>
            <a:ext cx="1428750" cy="457200"/>
            <a:chOff x="0" y="0"/>
            <a:chExt cx="1905000" cy="6096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905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05000">
                  <a:moveTo>
                    <a:pt x="50800" y="0"/>
                  </a:moveTo>
                  <a:lnTo>
                    <a:pt x="1854200" y="0"/>
                  </a:lnTo>
                  <a:cubicBezTo>
                    <a:pt x="1882256" y="0"/>
                    <a:pt x="1905000" y="27293"/>
                    <a:pt x="1905000" y="60960"/>
                  </a:cubicBezTo>
                  <a:lnTo>
                    <a:pt x="1905000" y="548640"/>
                  </a:lnTo>
                  <a:cubicBezTo>
                    <a:pt x="1905000" y="582307"/>
                    <a:pt x="1882256" y="609600"/>
                    <a:pt x="1854200" y="609600"/>
                  </a:cubicBezTo>
                  <a:lnTo>
                    <a:pt x="50800" y="609600"/>
                  </a:lnTo>
                  <a:cubicBezTo>
                    <a:pt x="22744" y="609600"/>
                    <a:pt x="0" y="582307"/>
                    <a:pt x="0" y="548640"/>
                  </a:cubicBezTo>
                  <a:lnTo>
                    <a:pt x="0" y="60960"/>
                  </a:lnTo>
                  <a:cubicBezTo>
                    <a:pt x="0" y="27293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38100"/>
              <a:ext cx="19050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2" id="142"/>
          <p:cNvSpPr txBox="true"/>
          <p:nvPr/>
        </p:nvSpPr>
        <p:spPr>
          <a:xfrm rot="0">
            <a:off x="2819400" y="8286750"/>
            <a:ext cx="142875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22"/>
              </a:lnSpc>
              <a:spcBef>
                <a:spcPct val="0"/>
              </a:spcBef>
            </a:pPr>
            <a:r>
              <a:rPr lang="en-US" b="true" sz="1444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Save as Draft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286000" cy="9753600"/>
            <a:chOff x="0" y="0"/>
            <a:chExt cx="3048000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4800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3004800"/>
                  </a:lnTo>
                  <a:lnTo>
                    <a:pt x="0" y="13004800"/>
                  </a:lnTo>
                  <a:close/>
                </a:path>
              </a:pathLst>
            </a:custGeom>
            <a:solidFill>
              <a:srgbClr val="0A1A2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48000" cy="130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7200" y="142875"/>
            <a:ext cx="19050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Aero</a:t>
            </a:r>
            <a:r>
              <a:rPr lang="en-US" sz="2400" strike="noStrike" u="none">
                <a:solidFill>
                  <a:srgbClr val="0FA3A3"/>
                </a:solidFill>
                <a:latin typeface="DIN Next"/>
                <a:ea typeface="DIN Next"/>
                <a:cs typeface="DIN Next"/>
                <a:sym typeface="DIN Next"/>
              </a:rPr>
              <a:t>Ready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8600" y="11144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▣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8150" y="107632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8600" y="14763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✈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8150" y="143827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Drones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8600" y="18383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⚡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8150" y="180022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Batteries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8600" y="22002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◎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8150" y="216217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Missions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8150" y="252412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Checklists  ▼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0550" y="2809875"/>
            <a:ext cx="17145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Checklist Templates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0550" y="3019425"/>
            <a:ext cx="15240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Mission Checklist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8600" y="33432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⚠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8150" y="33147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Risk &amp; Approval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8600" y="37052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8150" y="36766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Maintenance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8600" y="40671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▤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8150" y="40386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Reports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8600" y="44291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⛓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8150" y="44005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Traceability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28600" y="47910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👤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8150" y="47625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Users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28600" y="51530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38150" y="51244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Settings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286000" y="0"/>
            <a:ext cx="11430000" cy="609600"/>
            <a:chOff x="0" y="0"/>
            <a:chExt cx="152400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00" cy="812800"/>
            </a:xfrm>
            <a:custGeom>
              <a:avLst/>
              <a:gdLst/>
              <a:ahLst/>
              <a:cxnLst/>
              <a:rect r="r" b="b" t="t" l="l"/>
              <a:pathLst>
                <a:path h="8128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52400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144500" y="133350"/>
            <a:ext cx="342900" cy="342900"/>
            <a:chOff x="0" y="0"/>
            <a:chExt cx="457200" cy="457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D1D9E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144500" y="180975"/>
            <a:ext cx="3429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JD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590800" y="733425"/>
            <a:ext cx="38100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A2B3C"/>
                </a:solidFill>
                <a:latin typeface="DIN Next Bold"/>
                <a:ea typeface="DIN Next Bold"/>
                <a:cs typeface="DIN Next Bold"/>
                <a:sym typeface="DIN Next Bold"/>
              </a:rPr>
              <a:t>Checklist Templates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2590800" y="1295400"/>
            <a:ext cx="3429000" cy="400050"/>
            <a:chOff x="0" y="0"/>
            <a:chExt cx="4572000" cy="533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572000" cy="533400"/>
            </a:xfrm>
            <a:custGeom>
              <a:avLst/>
              <a:gdLst/>
              <a:ahLst/>
              <a:cxnLst/>
              <a:rect r="r" b="b" t="t" l="l"/>
              <a:pathLst>
                <a:path h="533400" w="4572000">
                  <a:moveTo>
                    <a:pt x="53340" y="0"/>
                  </a:moveTo>
                  <a:lnTo>
                    <a:pt x="4518660" y="0"/>
                  </a:lnTo>
                  <a:cubicBezTo>
                    <a:pt x="4532807" y="0"/>
                    <a:pt x="4546374" y="5620"/>
                    <a:pt x="4556377" y="15623"/>
                  </a:cubicBezTo>
                  <a:cubicBezTo>
                    <a:pt x="4566380" y="25626"/>
                    <a:pt x="4572000" y="39193"/>
                    <a:pt x="4572000" y="53340"/>
                  </a:cubicBezTo>
                  <a:lnTo>
                    <a:pt x="4572000" y="480060"/>
                  </a:lnTo>
                  <a:cubicBezTo>
                    <a:pt x="4572000" y="494207"/>
                    <a:pt x="4566380" y="507774"/>
                    <a:pt x="4556377" y="517777"/>
                  </a:cubicBezTo>
                  <a:cubicBezTo>
                    <a:pt x="4546374" y="527780"/>
                    <a:pt x="4532807" y="533400"/>
                    <a:pt x="4518660" y="533400"/>
                  </a:cubicBezTo>
                  <a:lnTo>
                    <a:pt x="53340" y="533400"/>
                  </a:lnTo>
                  <a:cubicBezTo>
                    <a:pt x="39193" y="533400"/>
                    <a:pt x="25626" y="527780"/>
                    <a:pt x="15623" y="517777"/>
                  </a:cubicBezTo>
                  <a:cubicBezTo>
                    <a:pt x="5620" y="507774"/>
                    <a:pt x="0" y="494207"/>
                    <a:pt x="0" y="480060"/>
                  </a:cubicBezTo>
                  <a:lnTo>
                    <a:pt x="0" y="53340"/>
                  </a:lnTo>
                  <a:cubicBezTo>
                    <a:pt x="0" y="23881"/>
                    <a:pt x="23881" y="0"/>
                    <a:pt x="5334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5720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2819400" y="1362075"/>
            <a:ext cx="3048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Search template items...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268200" y="1295400"/>
            <a:ext cx="1143000" cy="438150"/>
            <a:chOff x="0" y="0"/>
            <a:chExt cx="1524000" cy="584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24000" cy="584200"/>
            </a:xfrm>
            <a:custGeom>
              <a:avLst/>
              <a:gdLst/>
              <a:ahLst/>
              <a:cxnLst/>
              <a:rect r="r" b="b" t="t" l="l"/>
              <a:pathLst>
                <a:path h="584200" w="1524000">
                  <a:moveTo>
                    <a:pt x="58420" y="0"/>
                  </a:moveTo>
                  <a:lnTo>
                    <a:pt x="1465580" y="0"/>
                  </a:lnTo>
                  <a:cubicBezTo>
                    <a:pt x="1497845" y="0"/>
                    <a:pt x="1524000" y="26156"/>
                    <a:pt x="1524000" y="58420"/>
                  </a:cubicBezTo>
                  <a:lnTo>
                    <a:pt x="1524000" y="525780"/>
                  </a:lnTo>
                  <a:cubicBezTo>
                    <a:pt x="1524000" y="558044"/>
                    <a:pt x="1497845" y="584200"/>
                    <a:pt x="1465580" y="584200"/>
                  </a:cubicBezTo>
                  <a:lnTo>
                    <a:pt x="58420" y="584200"/>
                  </a:lnTo>
                  <a:cubicBezTo>
                    <a:pt x="26156" y="584200"/>
                    <a:pt x="0" y="558044"/>
                    <a:pt x="0" y="525780"/>
                  </a:cubicBezTo>
                  <a:lnTo>
                    <a:pt x="0" y="58420"/>
                  </a:lnTo>
                  <a:cubicBezTo>
                    <a:pt x="0" y="26156"/>
                    <a:pt x="26156" y="0"/>
                    <a:pt x="58420" y="0"/>
                  </a:cubicBez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5240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2268200" y="1371600"/>
            <a:ext cx="1143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+ Add Item</a:t>
            </a:r>
          </a:p>
        </p:txBody>
      </p:sp>
      <p:sp>
        <p:nvSpPr>
          <p:cNvPr name="AutoShape 45" id="45"/>
          <p:cNvSpPr/>
          <p:nvPr/>
        </p:nvSpPr>
        <p:spPr>
          <a:xfrm>
            <a:off x="228600" y="628650"/>
            <a:ext cx="533400" cy="0"/>
          </a:xfrm>
          <a:prstGeom prst="line">
            <a:avLst/>
          </a:prstGeom>
          <a:ln cap="rnd" w="19050">
            <a:solidFill>
              <a:srgbClr val="0FA3A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2590800" y="1924050"/>
            <a:ext cx="10820400" cy="2095500"/>
            <a:chOff x="0" y="0"/>
            <a:chExt cx="14427200" cy="2794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4272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14427200">
                  <a:moveTo>
                    <a:pt x="279400" y="0"/>
                  </a:moveTo>
                  <a:lnTo>
                    <a:pt x="14147800" y="0"/>
                  </a:lnTo>
                  <a:cubicBezTo>
                    <a:pt x="14302108" y="0"/>
                    <a:pt x="14427200" y="125092"/>
                    <a:pt x="14427200" y="279400"/>
                  </a:cubicBezTo>
                  <a:lnTo>
                    <a:pt x="14427200" y="2514600"/>
                  </a:lnTo>
                  <a:cubicBezTo>
                    <a:pt x="14427200" y="2668908"/>
                    <a:pt x="14302108" y="2794000"/>
                    <a:pt x="14147800" y="2794000"/>
                  </a:cubicBezTo>
                  <a:lnTo>
                    <a:pt x="279400" y="2794000"/>
                  </a:lnTo>
                  <a:cubicBezTo>
                    <a:pt x="125092" y="2794000"/>
                    <a:pt x="0" y="2668908"/>
                    <a:pt x="0" y="2514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44272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28600" y="314325"/>
            <a:ext cx="171450" cy="171450"/>
            <a:chOff x="0" y="0"/>
            <a:chExt cx="228600" cy="228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2819400" y="2085975"/>
            <a:ext cx="2286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Item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295900" y="2085975"/>
            <a:ext cx="1905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Category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391400" y="2085975"/>
            <a:ext cx="1524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Criticality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915400" y="2200275"/>
            <a:ext cx="1714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Evidence Required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010900" y="2085975"/>
            <a:ext cx="1143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</a:p>
        </p:txBody>
      </p:sp>
      <p:sp>
        <p:nvSpPr>
          <p:cNvPr name="AutoShape 57" id="57"/>
          <p:cNvSpPr/>
          <p:nvPr/>
        </p:nvSpPr>
        <p:spPr>
          <a:xfrm>
            <a:off x="2819400" y="238125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8" id="58"/>
          <p:cNvSpPr txBox="true"/>
          <p:nvPr/>
        </p:nvSpPr>
        <p:spPr>
          <a:xfrm rot="0">
            <a:off x="2819400" y="2533650"/>
            <a:ext cx="2286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Propellers free of cracks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295900" y="2533650"/>
            <a:ext cx="1905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UAV Airworthiness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7391400" y="2533650"/>
            <a:ext cx="762000" cy="247650"/>
            <a:chOff x="0" y="0"/>
            <a:chExt cx="1016000" cy="330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16000" cy="330200"/>
            </a:xfrm>
            <a:custGeom>
              <a:avLst/>
              <a:gdLst/>
              <a:ahLst/>
              <a:cxnLst/>
              <a:rect r="r" b="b" t="t" l="l"/>
              <a:pathLst>
                <a:path h="330200" w="1016000">
                  <a:moveTo>
                    <a:pt x="850900" y="0"/>
                  </a:moveTo>
                  <a:cubicBezTo>
                    <a:pt x="942082" y="0"/>
                    <a:pt x="1016000" y="73918"/>
                    <a:pt x="1016000" y="165100"/>
                  </a:cubicBezTo>
                  <a:cubicBezTo>
                    <a:pt x="1016000" y="256282"/>
                    <a:pt x="942082" y="330200"/>
                    <a:pt x="850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E05252">
                <a:alpha val="19608"/>
              </a:srgbClr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0160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7391400" y="2543175"/>
            <a:ext cx="762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E05252"/>
                </a:solidFill>
                <a:latin typeface="Inter"/>
                <a:ea typeface="Inter"/>
                <a:cs typeface="Inter"/>
                <a:sym typeface="Inter"/>
              </a:rPr>
              <a:t>Critical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915400" y="2533650"/>
            <a:ext cx="1333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1010900" y="2533650"/>
            <a:ext cx="762000" cy="247650"/>
            <a:chOff x="0" y="0"/>
            <a:chExt cx="1016000" cy="330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16000" cy="330200"/>
            </a:xfrm>
            <a:custGeom>
              <a:avLst/>
              <a:gdLst/>
              <a:ahLst/>
              <a:cxnLst/>
              <a:rect r="r" b="b" t="t" l="l"/>
              <a:pathLst>
                <a:path h="330200" w="1016000">
                  <a:moveTo>
                    <a:pt x="850900" y="0"/>
                  </a:moveTo>
                  <a:cubicBezTo>
                    <a:pt x="942082" y="0"/>
                    <a:pt x="1016000" y="73918"/>
                    <a:pt x="1016000" y="165100"/>
                  </a:cubicBezTo>
                  <a:cubicBezTo>
                    <a:pt x="1016000" y="256282"/>
                    <a:pt x="942082" y="330200"/>
                    <a:pt x="850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22C55E">
                <a:alpha val="19608"/>
              </a:srgbClr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160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1010900" y="2543175"/>
            <a:ext cx="762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Active</a:t>
            </a:r>
          </a:p>
        </p:txBody>
      </p:sp>
      <p:sp>
        <p:nvSpPr>
          <p:cNvPr name="AutoShape 69" id="69"/>
          <p:cNvSpPr/>
          <p:nvPr/>
        </p:nvSpPr>
        <p:spPr>
          <a:xfrm>
            <a:off x="2819400" y="283845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0" id="70"/>
          <p:cNvSpPr txBox="true"/>
          <p:nvPr/>
        </p:nvSpPr>
        <p:spPr>
          <a:xfrm rot="0">
            <a:off x="2819400" y="2990850"/>
            <a:ext cx="2286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GPS lock acquired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5295900" y="2990850"/>
            <a:ext cx="2286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Communication &amp; Control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7391400" y="2990850"/>
            <a:ext cx="1000125" cy="247650"/>
            <a:chOff x="0" y="0"/>
            <a:chExt cx="1333500" cy="330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333500" cy="330200"/>
            </a:xfrm>
            <a:custGeom>
              <a:avLst/>
              <a:gdLst/>
              <a:ahLst/>
              <a:cxnLst/>
              <a:rect r="r" b="b" t="t" l="l"/>
              <a:pathLst>
                <a:path h="330200" w="1333500">
                  <a:moveTo>
                    <a:pt x="1168400" y="0"/>
                  </a:moveTo>
                  <a:cubicBezTo>
                    <a:pt x="1259582" y="0"/>
                    <a:pt x="1333500" y="73918"/>
                    <a:pt x="1333500" y="165100"/>
                  </a:cubicBezTo>
                  <a:cubicBezTo>
                    <a:pt x="1333500" y="256282"/>
                    <a:pt x="1259582" y="330200"/>
                    <a:pt x="11684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E6A817">
                <a:alpha val="19608"/>
              </a:srgbClr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3335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7391400" y="3000375"/>
            <a:ext cx="100012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E6A817"/>
                </a:solidFill>
                <a:latin typeface="Inter"/>
                <a:ea typeface="Inter"/>
                <a:cs typeface="Inter"/>
                <a:sym typeface="Inter"/>
              </a:rPr>
              <a:t>Conditional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8915400" y="2990850"/>
            <a:ext cx="1333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1010900" y="2990850"/>
            <a:ext cx="762000" cy="247650"/>
            <a:chOff x="0" y="0"/>
            <a:chExt cx="1016000" cy="3302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16000" cy="330200"/>
            </a:xfrm>
            <a:custGeom>
              <a:avLst/>
              <a:gdLst/>
              <a:ahLst/>
              <a:cxnLst/>
              <a:rect r="r" b="b" t="t" l="l"/>
              <a:pathLst>
                <a:path h="330200" w="1016000">
                  <a:moveTo>
                    <a:pt x="850900" y="0"/>
                  </a:moveTo>
                  <a:cubicBezTo>
                    <a:pt x="942082" y="0"/>
                    <a:pt x="1016000" y="73918"/>
                    <a:pt x="1016000" y="165100"/>
                  </a:cubicBezTo>
                  <a:cubicBezTo>
                    <a:pt x="1016000" y="256282"/>
                    <a:pt x="942082" y="330200"/>
                    <a:pt x="850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22C55E">
                <a:alpha val="19608"/>
              </a:srgbClr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0160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11010900" y="3000375"/>
            <a:ext cx="762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Active</a:t>
            </a:r>
          </a:p>
        </p:txBody>
      </p:sp>
      <p:sp>
        <p:nvSpPr>
          <p:cNvPr name="AutoShape 81" id="81"/>
          <p:cNvSpPr/>
          <p:nvPr/>
        </p:nvSpPr>
        <p:spPr>
          <a:xfrm>
            <a:off x="2819400" y="329565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2" id="82"/>
          <p:cNvSpPr txBox="true"/>
          <p:nvPr/>
        </p:nvSpPr>
        <p:spPr>
          <a:xfrm rot="0">
            <a:off x="2819400" y="3448050"/>
            <a:ext cx="2857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Payload mount torque check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5295900" y="3448050"/>
            <a:ext cx="1905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Payload / Camera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7391400" y="3448050"/>
            <a:ext cx="1000125" cy="247650"/>
            <a:chOff x="0" y="0"/>
            <a:chExt cx="1333500" cy="3302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333500" cy="330200"/>
            </a:xfrm>
            <a:custGeom>
              <a:avLst/>
              <a:gdLst/>
              <a:ahLst/>
              <a:cxnLst/>
              <a:rect r="r" b="b" t="t" l="l"/>
              <a:pathLst>
                <a:path h="330200" w="1333500">
                  <a:moveTo>
                    <a:pt x="1168400" y="0"/>
                  </a:moveTo>
                  <a:cubicBezTo>
                    <a:pt x="1259582" y="0"/>
                    <a:pt x="1333500" y="73918"/>
                    <a:pt x="1333500" y="165100"/>
                  </a:cubicBezTo>
                  <a:cubicBezTo>
                    <a:pt x="1333500" y="256282"/>
                    <a:pt x="1259582" y="330200"/>
                    <a:pt x="11684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6B7A8D">
                <a:alpha val="19608"/>
              </a:srgbClr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13335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7391400" y="3457575"/>
            <a:ext cx="100012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Non-critical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8915400" y="3448050"/>
            <a:ext cx="1333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11010900" y="3448050"/>
            <a:ext cx="762000" cy="247650"/>
            <a:chOff x="0" y="0"/>
            <a:chExt cx="1016000" cy="3302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16000" cy="330200"/>
            </a:xfrm>
            <a:custGeom>
              <a:avLst/>
              <a:gdLst/>
              <a:ahLst/>
              <a:cxnLst/>
              <a:rect r="r" b="b" t="t" l="l"/>
              <a:pathLst>
                <a:path h="330200" w="1016000">
                  <a:moveTo>
                    <a:pt x="850900" y="0"/>
                  </a:moveTo>
                  <a:cubicBezTo>
                    <a:pt x="942082" y="0"/>
                    <a:pt x="1016000" y="73918"/>
                    <a:pt x="1016000" y="165100"/>
                  </a:cubicBezTo>
                  <a:cubicBezTo>
                    <a:pt x="1016000" y="256282"/>
                    <a:pt x="942082" y="330200"/>
                    <a:pt x="850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6B7A8D">
                <a:alpha val="19608"/>
              </a:srgbClr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0160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2" id="92"/>
          <p:cNvSpPr txBox="true"/>
          <p:nvPr/>
        </p:nvSpPr>
        <p:spPr>
          <a:xfrm rot="0">
            <a:off x="11010900" y="3457575"/>
            <a:ext cx="762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Retired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228600" y="25622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☑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90800" y="5219700"/>
            <a:ext cx="10820400" cy="762000"/>
            <a:chOff x="0" y="0"/>
            <a:chExt cx="14427200" cy="10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72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4427200">
                  <a:moveTo>
                    <a:pt x="101600" y="0"/>
                  </a:moveTo>
                  <a:lnTo>
                    <a:pt x="14325600" y="0"/>
                  </a:lnTo>
                  <a:cubicBezTo>
                    <a:pt x="14381713" y="0"/>
                    <a:pt x="14427200" y="45488"/>
                    <a:pt x="14427200" y="101600"/>
                  </a:cubicBezTo>
                  <a:lnTo>
                    <a:pt x="14427200" y="914400"/>
                  </a:lnTo>
                  <a:cubicBezTo>
                    <a:pt x="14427200" y="970512"/>
                    <a:pt x="14381713" y="1016000"/>
                    <a:pt x="143256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4272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90800" y="4381500"/>
            <a:ext cx="38100" cy="381000"/>
            <a:chOff x="0" y="0"/>
            <a:chExt cx="50800" cy="50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8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8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90800" y="3124200"/>
            <a:ext cx="10820400" cy="1143000"/>
            <a:chOff x="0" y="0"/>
            <a:chExt cx="14427200" cy="152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272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4427200">
                  <a:moveTo>
                    <a:pt x="152400" y="0"/>
                  </a:moveTo>
                  <a:lnTo>
                    <a:pt x="14274800" y="0"/>
                  </a:lnTo>
                  <a:cubicBezTo>
                    <a:pt x="14358969" y="0"/>
                    <a:pt x="14427200" y="68232"/>
                    <a:pt x="14427200" y="152400"/>
                  </a:cubicBezTo>
                  <a:lnTo>
                    <a:pt x="14427200" y="1371600"/>
                  </a:lnTo>
                  <a:cubicBezTo>
                    <a:pt x="14427200" y="1455768"/>
                    <a:pt x="14358969" y="1524000"/>
                    <a:pt x="142748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4272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590800" y="1447800"/>
            <a:ext cx="10820400" cy="1524000"/>
            <a:chOff x="0" y="0"/>
            <a:chExt cx="14427200" cy="2032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272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4427200">
                  <a:moveTo>
                    <a:pt x="203200" y="0"/>
                  </a:moveTo>
                  <a:lnTo>
                    <a:pt x="14224000" y="0"/>
                  </a:lnTo>
                  <a:cubicBezTo>
                    <a:pt x="14336224" y="0"/>
                    <a:pt x="14427200" y="90976"/>
                    <a:pt x="14427200" y="203200"/>
                  </a:cubicBezTo>
                  <a:lnTo>
                    <a:pt x="14427200" y="1828800"/>
                  </a:lnTo>
                  <a:cubicBezTo>
                    <a:pt x="14427200" y="1941024"/>
                    <a:pt x="14336224" y="2032000"/>
                    <a:pt x="142240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4272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300" y="2943225"/>
            <a:ext cx="2000250" cy="266700"/>
            <a:chOff x="0" y="0"/>
            <a:chExt cx="2667000" cy="355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67000" cy="355600"/>
            </a:xfrm>
            <a:custGeom>
              <a:avLst/>
              <a:gdLst/>
              <a:ahLst/>
              <a:cxnLst/>
              <a:rect r="r" b="b" t="t" l="l"/>
              <a:pathLst>
                <a:path h="355600" w="2667000">
                  <a:moveTo>
                    <a:pt x="40481" y="0"/>
                  </a:moveTo>
                  <a:lnTo>
                    <a:pt x="2626519" y="0"/>
                  </a:lnTo>
                  <a:cubicBezTo>
                    <a:pt x="2648876" y="0"/>
                    <a:pt x="2667000" y="15921"/>
                    <a:pt x="2667000" y="35560"/>
                  </a:cubicBezTo>
                  <a:lnTo>
                    <a:pt x="2667000" y="320040"/>
                  </a:lnTo>
                  <a:cubicBezTo>
                    <a:pt x="2667000" y="339679"/>
                    <a:pt x="2648876" y="355600"/>
                    <a:pt x="2626519" y="355600"/>
                  </a:cubicBezTo>
                  <a:lnTo>
                    <a:pt x="40481" y="355600"/>
                  </a:lnTo>
                  <a:cubicBezTo>
                    <a:pt x="18124" y="355600"/>
                    <a:pt x="0" y="339679"/>
                    <a:pt x="0" y="320040"/>
                  </a:cubicBezTo>
                  <a:lnTo>
                    <a:pt x="0" y="35560"/>
                  </a:lnTo>
                  <a:cubicBezTo>
                    <a:pt x="0" y="15921"/>
                    <a:pt x="18124" y="0"/>
                    <a:pt x="40481" y="0"/>
                  </a:cubicBezTo>
                  <a:close/>
                </a:path>
              </a:pathLst>
            </a:custGeom>
            <a:solidFill>
              <a:srgbClr val="1A2F4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6670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0"/>
            <a:ext cx="2286000" cy="9753600"/>
            <a:chOff x="0" y="0"/>
            <a:chExt cx="3048000" cy="13004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4800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3004800"/>
                  </a:lnTo>
                  <a:lnTo>
                    <a:pt x="0" y="13004800"/>
                  </a:lnTo>
                  <a:close/>
                </a:path>
              </a:pathLst>
            </a:custGeom>
            <a:solidFill>
              <a:srgbClr val="0A1A2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048000" cy="130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57200" y="142875"/>
            <a:ext cx="19050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Aero</a:t>
            </a:r>
            <a:r>
              <a:rPr lang="en-US" sz="2400" strike="noStrike" u="none">
                <a:solidFill>
                  <a:srgbClr val="0FA3A3"/>
                </a:solidFill>
                <a:latin typeface="DIN Next"/>
                <a:ea typeface="DIN Next"/>
                <a:cs typeface="DIN Next"/>
                <a:sym typeface="DIN Next"/>
              </a:rPr>
              <a:t>Ready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8150" y="107632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8150" y="143827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Drones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8150" y="180022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Batteries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8150" y="216217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Missions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38150" y="252412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Checklists  ▼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0550" y="2800350"/>
            <a:ext cx="17145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Checklist Templates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90550" y="3009900"/>
            <a:ext cx="15240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Mission Checklist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38150" y="330517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Risk &amp; Approval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38150" y="366712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Maintenance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38150" y="402907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Reports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38150" y="439102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Traceability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38150" y="475297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Users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38150" y="5114925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Settings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2286000" y="0"/>
            <a:ext cx="11430000" cy="609600"/>
            <a:chOff x="0" y="0"/>
            <a:chExt cx="152400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240000" cy="812800"/>
            </a:xfrm>
            <a:custGeom>
              <a:avLst/>
              <a:gdLst/>
              <a:ahLst/>
              <a:cxnLst/>
              <a:rect r="r" b="b" t="t" l="l"/>
              <a:pathLst>
                <a:path h="8128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52400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228600" y="11144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▣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8600" y="14763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✈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28600" y="18383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⚡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8600" y="22002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◎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28600" y="25622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☑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28600" y="33432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⚠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28600" y="37052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28600" y="40671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▤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28600" y="44291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⛓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28600" y="47910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👤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28600" y="51530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3144500" y="133350"/>
            <a:ext cx="342900" cy="342900"/>
            <a:chOff x="0" y="0"/>
            <a:chExt cx="457200" cy="457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D1D9E0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3144500" y="180975"/>
            <a:ext cx="3429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JD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590800" y="714375"/>
            <a:ext cx="6667500" cy="42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1A2B3C"/>
                </a:solidFill>
                <a:latin typeface="DIN Next Bold"/>
                <a:ea typeface="DIN Next Bold"/>
                <a:cs typeface="DIN Next Bold"/>
                <a:sym typeface="DIN Next Bold"/>
              </a:rPr>
              <a:t>Perimeter Survey — Sector B</a:t>
            </a:r>
          </a:p>
        </p:txBody>
      </p:sp>
      <p:sp>
        <p:nvSpPr>
          <p:cNvPr name="AutoShape 53" id="53"/>
          <p:cNvSpPr/>
          <p:nvPr/>
        </p:nvSpPr>
        <p:spPr>
          <a:xfrm>
            <a:off x="228600" y="628650"/>
            <a:ext cx="533400" cy="0"/>
          </a:xfrm>
          <a:prstGeom prst="line">
            <a:avLst/>
          </a:prstGeom>
          <a:ln cap="rnd" w="19050">
            <a:solidFill>
              <a:srgbClr val="0F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4" id="54"/>
          <p:cNvSpPr txBox="true"/>
          <p:nvPr/>
        </p:nvSpPr>
        <p:spPr>
          <a:xfrm rot="0">
            <a:off x="2590800" y="1076325"/>
            <a:ext cx="47625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Mission Readiness Checklist · DR-014 / BT-007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228600" y="314325"/>
            <a:ext cx="171450" cy="171450"/>
            <a:chOff x="0" y="0"/>
            <a:chExt cx="228600" cy="2286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077700" y="838200"/>
            <a:ext cx="1333500" cy="266700"/>
            <a:chOff x="0" y="0"/>
            <a:chExt cx="1778000" cy="3556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778000" cy="355600"/>
            </a:xfrm>
            <a:custGeom>
              <a:avLst/>
              <a:gdLst/>
              <a:ahLst/>
              <a:cxnLst/>
              <a:rect r="r" b="b" t="t" l="l"/>
              <a:pathLst>
                <a:path h="355600" w="1778000">
                  <a:moveTo>
                    <a:pt x="1600200" y="0"/>
                  </a:moveTo>
                  <a:cubicBezTo>
                    <a:pt x="1698396" y="0"/>
                    <a:pt x="1778000" y="79604"/>
                    <a:pt x="1778000" y="177800"/>
                  </a:cubicBezTo>
                  <a:cubicBezTo>
                    <a:pt x="1778000" y="275996"/>
                    <a:pt x="1698396" y="355600"/>
                    <a:pt x="1600200" y="355600"/>
                  </a:cubicBezTo>
                  <a:lnTo>
                    <a:pt x="177800" y="355600"/>
                  </a:ln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E6A817">
                <a:alpha val="14902"/>
              </a:srgbClr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7780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2077700" y="847725"/>
            <a:ext cx="1333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E6A817"/>
                </a:solidFill>
                <a:latin typeface="Inter"/>
                <a:ea typeface="Inter"/>
                <a:cs typeface="Inter"/>
                <a:sym typeface="Inter"/>
              </a:rPr>
              <a:t>3 items remaining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781300" y="1562100"/>
            <a:ext cx="2857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b="true" sz="1500" strike="noStrike" u="none">
                <a:solidFill>
                  <a:srgbClr val="1A2B3C"/>
                </a:solidFill>
                <a:latin typeface="Inter Bold"/>
                <a:ea typeface="Inter Bold"/>
                <a:cs typeface="Inter Bold"/>
                <a:sym typeface="Inter Bold"/>
              </a:rPr>
              <a:t>Battery Readiness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781300" y="1914525"/>
            <a:ext cx="4762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Battery charge above 80%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781300" y="2124075"/>
            <a:ext cx="4762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BT-007 currently at 72% — verify after top-up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1506200" y="1943100"/>
            <a:ext cx="571500" cy="285750"/>
            <a:chOff x="0" y="0"/>
            <a:chExt cx="762000" cy="3810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62000" cy="381000"/>
            </a:xfrm>
            <a:custGeom>
              <a:avLst/>
              <a:gdLst/>
              <a:ahLst/>
              <a:cxnLst/>
              <a:rect r="r" b="b" t="t" l="l"/>
              <a:pathLst>
                <a:path h="381000" w="762000">
                  <a:moveTo>
                    <a:pt x="38100" y="0"/>
                  </a:moveTo>
                  <a:lnTo>
                    <a:pt x="723900" y="0"/>
                  </a:lnTo>
                  <a:cubicBezTo>
                    <a:pt x="744942" y="0"/>
                    <a:pt x="762000" y="17058"/>
                    <a:pt x="762000" y="38100"/>
                  </a:cubicBezTo>
                  <a:lnTo>
                    <a:pt x="762000" y="342900"/>
                  </a:lnTo>
                  <a:cubicBezTo>
                    <a:pt x="762000" y="363942"/>
                    <a:pt x="744942" y="381000"/>
                    <a:pt x="72390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762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1506200" y="1971675"/>
            <a:ext cx="571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Pass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2077700" y="1943100"/>
            <a:ext cx="571500" cy="285750"/>
            <a:chOff x="0" y="0"/>
            <a:chExt cx="762000" cy="3810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62000" cy="381000"/>
            </a:xfrm>
            <a:custGeom>
              <a:avLst/>
              <a:gdLst/>
              <a:ahLst/>
              <a:cxnLst/>
              <a:rect r="r" b="b" t="t" l="l"/>
              <a:pathLst>
                <a:path h="381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762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2077700" y="1971675"/>
            <a:ext cx="571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Fail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2649200" y="1943100"/>
            <a:ext cx="571500" cy="285750"/>
            <a:chOff x="0" y="0"/>
            <a:chExt cx="762000" cy="3810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62000" cy="381000"/>
            </a:xfrm>
            <a:custGeom>
              <a:avLst/>
              <a:gdLst/>
              <a:ahLst/>
              <a:cxnLst/>
              <a:rect r="r" b="b" t="t" l="l"/>
              <a:pathLst>
                <a:path h="381000" w="762000">
                  <a:moveTo>
                    <a:pt x="38100" y="0"/>
                  </a:moveTo>
                  <a:lnTo>
                    <a:pt x="723900" y="0"/>
                  </a:lnTo>
                  <a:cubicBezTo>
                    <a:pt x="744942" y="0"/>
                    <a:pt x="762000" y="17058"/>
                    <a:pt x="762000" y="38100"/>
                  </a:cubicBezTo>
                  <a:lnTo>
                    <a:pt x="762000" y="342900"/>
                  </a:lnTo>
                  <a:cubicBezTo>
                    <a:pt x="762000" y="363942"/>
                    <a:pt x="744942" y="381000"/>
                    <a:pt x="72390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762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2649200" y="1971675"/>
            <a:ext cx="571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N/A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2781300" y="2466975"/>
            <a:ext cx="4762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Battery cycle count within limits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781300" y="2676525"/>
            <a:ext cx="4762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Max 200 cycles — BT-007 at 63 cycles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11506200" y="2495550"/>
            <a:ext cx="571500" cy="285750"/>
            <a:chOff x="0" y="0"/>
            <a:chExt cx="762000" cy="3810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62000" cy="381000"/>
            </a:xfrm>
            <a:custGeom>
              <a:avLst/>
              <a:gdLst/>
              <a:ahLst/>
              <a:cxnLst/>
              <a:rect r="r" b="b" t="t" l="l"/>
              <a:pathLst>
                <a:path h="381000" w="762000">
                  <a:moveTo>
                    <a:pt x="38100" y="0"/>
                  </a:moveTo>
                  <a:lnTo>
                    <a:pt x="723900" y="0"/>
                  </a:lnTo>
                  <a:cubicBezTo>
                    <a:pt x="744942" y="0"/>
                    <a:pt x="762000" y="17058"/>
                    <a:pt x="762000" y="38100"/>
                  </a:cubicBezTo>
                  <a:lnTo>
                    <a:pt x="762000" y="342900"/>
                  </a:lnTo>
                  <a:cubicBezTo>
                    <a:pt x="762000" y="363942"/>
                    <a:pt x="744942" y="381000"/>
                    <a:pt x="72390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762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11506200" y="2524125"/>
            <a:ext cx="571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Pass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2077700" y="2495550"/>
            <a:ext cx="571500" cy="285750"/>
            <a:chOff x="0" y="0"/>
            <a:chExt cx="762000" cy="3810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62000" cy="381000"/>
            </a:xfrm>
            <a:custGeom>
              <a:avLst/>
              <a:gdLst/>
              <a:ahLst/>
              <a:cxnLst/>
              <a:rect r="r" b="b" t="t" l="l"/>
              <a:pathLst>
                <a:path h="381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762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12077700" y="2524125"/>
            <a:ext cx="571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Fail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12649200" y="2495550"/>
            <a:ext cx="571500" cy="285750"/>
            <a:chOff x="0" y="0"/>
            <a:chExt cx="762000" cy="3810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62000" cy="381000"/>
            </a:xfrm>
            <a:custGeom>
              <a:avLst/>
              <a:gdLst/>
              <a:ahLst/>
              <a:cxnLst/>
              <a:rect r="r" b="b" t="t" l="l"/>
              <a:pathLst>
                <a:path h="381000" w="762000">
                  <a:moveTo>
                    <a:pt x="38100" y="0"/>
                  </a:moveTo>
                  <a:lnTo>
                    <a:pt x="723900" y="0"/>
                  </a:lnTo>
                  <a:cubicBezTo>
                    <a:pt x="744942" y="0"/>
                    <a:pt x="762000" y="17058"/>
                    <a:pt x="762000" y="38100"/>
                  </a:cubicBezTo>
                  <a:lnTo>
                    <a:pt x="762000" y="342900"/>
                  </a:lnTo>
                  <a:cubicBezTo>
                    <a:pt x="762000" y="363942"/>
                    <a:pt x="744942" y="381000"/>
                    <a:pt x="72390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762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12649200" y="2524125"/>
            <a:ext cx="571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N/A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2781300" y="3238500"/>
            <a:ext cx="1905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b="true" sz="1500" strike="noStrike" u="none">
                <a:solidFill>
                  <a:srgbClr val="1A2B3C"/>
                </a:solidFill>
                <a:latin typeface="Inter Bold"/>
                <a:ea typeface="Inter Bold"/>
                <a:cs typeface="Inter Bold"/>
                <a:sym typeface="Inter Bold"/>
              </a:rPr>
              <a:t>UAV Airworthiness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4686300" y="3286125"/>
            <a:ext cx="857250" cy="209550"/>
            <a:chOff x="0" y="0"/>
            <a:chExt cx="1143000" cy="2794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143000" cy="279400"/>
            </a:xfrm>
            <a:custGeom>
              <a:avLst/>
              <a:gdLst/>
              <a:ahLst/>
              <a:cxnLst/>
              <a:rect r="r" b="b" t="t" l="l"/>
              <a:pathLst>
                <a:path h="279400" w="1143000">
                  <a:moveTo>
                    <a:pt x="1003300" y="0"/>
                  </a:moveTo>
                  <a:cubicBezTo>
                    <a:pt x="1080454" y="0"/>
                    <a:pt x="1143000" y="62546"/>
                    <a:pt x="1143000" y="139700"/>
                  </a:cubicBezTo>
                  <a:cubicBezTo>
                    <a:pt x="1143000" y="216854"/>
                    <a:pt x="1080454" y="279400"/>
                    <a:pt x="1003300" y="279400"/>
                  </a:cubicBezTo>
                  <a:lnTo>
                    <a:pt x="139700" y="279400"/>
                  </a:lnTo>
                  <a:cubicBezTo>
                    <a:pt x="62546" y="279400"/>
                    <a:pt x="0" y="216854"/>
                    <a:pt x="0" y="139700"/>
                  </a:cubicBezTo>
                  <a:cubicBezTo>
                    <a:pt x="0" y="62546"/>
                    <a:pt x="62546" y="0"/>
                    <a:pt x="139700" y="0"/>
                  </a:cubicBezTo>
                  <a:close/>
                </a:path>
              </a:pathLst>
            </a:custGeom>
            <a:solidFill>
              <a:srgbClr val="E05252">
                <a:alpha val="14902"/>
              </a:srgbClr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1430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5" id="95"/>
          <p:cNvSpPr txBox="true"/>
          <p:nvPr/>
        </p:nvSpPr>
        <p:spPr>
          <a:xfrm rot="0">
            <a:off x="4686300" y="3295650"/>
            <a:ext cx="857250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E05252"/>
                </a:solidFill>
                <a:latin typeface="Inter"/>
                <a:ea typeface="Inter"/>
                <a:cs typeface="Inter"/>
                <a:sym typeface="Inter"/>
              </a:rPr>
              <a:t>Critical item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2781300" y="3590925"/>
            <a:ext cx="4762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Propellers free of cracks or chips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2781300" y="3800475"/>
            <a:ext cx="4762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Evidence required · photo upload</a:t>
            </a:r>
          </a:p>
        </p:txBody>
      </p:sp>
      <p:grpSp>
        <p:nvGrpSpPr>
          <p:cNvPr name="Group 98" id="98"/>
          <p:cNvGrpSpPr/>
          <p:nvPr/>
        </p:nvGrpSpPr>
        <p:grpSpPr>
          <a:xfrm rot="0">
            <a:off x="11506200" y="3619500"/>
            <a:ext cx="571500" cy="285750"/>
            <a:chOff x="0" y="0"/>
            <a:chExt cx="762000" cy="3810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62000" cy="381000"/>
            </a:xfrm>
            <a:custGeom>
              <a:avLst/>
              <a:gdLst/>
              <a:ahLst/>
              <a:cxnLst/>
              <a:rect r="r" b="b" t="t" l="l"/>
              <a:pathLst>
                <a:path h="381000" w="762000">
                  <a:moveTo>
                    <a:pt x="38100" y="0"/>
                  </a:moveTo>
                  <a:lnTo>
                    <a:pt x="723900" y="0"/>
                  </a:lnTo>
                  <a:cubicBezTo>
                    <a:pt x="744942" y="0"/>
                    <a:pt x="762000" y="17058"/>
                    <a:pt x="762000" y="38100"/>
                  </a:cubicBezTo>
                  <a:lnTo>
                    <a:pt x="762000" y="342900"/>
                  </a:lnTo>
                  <a:cubicBezTo>
                    <a:pt x="762000" y="363942"/>
                    <a:pt x="744942" y="381000"/>
                    <a:pt x="72390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762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1" id="101"/>
          <p:cNvSpPr txBox="true"/>
          <p:nvPr/>
        </p:nvSpPr>
        <p:spPr>
          <a:xfrm rot="0">
            <a:off x="11506200" y="3648075"/>
            <a:ext cx="571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Pass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12077700" y="3619500"/>
            <a:ext cx="571500" cy="285750"/>
            <a:chOff x="0" y="0"/>
            <a:chExt cx="762000" cy="3810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62000" cy="381000"/>
            </a:xfrm>
            <a:custGeom>
              <a:avLst/>
              <a:gdLst/>
              <a:ahLst/>
              <a:cxnLst/>
              <a:rect r="r" b="b" t="t" l="l"/>
              <a:pathLst>
                <a:path h="381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762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12077700" y="3648075"/>
            <a:ext cx="571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Fail</a:t>
            </a:r>
          </a:p>
        </p:txBody>
      </p:sp>
      <p:grpSp>
        <p:nvGrpSpPr>
          <p:cNvPr name="Group 106" id="106"/>
          <p:cNvGrpSpPr/>
          <p:nvPr/>
        </p:nvGrpSpPr>
        <p:grpSpPr>
          <a:xfrm rot="0">
            <a:off x="12649200" y="3619500"/>
            <a:ext cx="571500" cy="285750"/>
            <a:chOff x="0" y="0"/>
            <a:chExt cx="762000" cy="3810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762000" cy="381000"/>
            </a:xfrm>
            <a:custGeom>
              <a:avLst/>
              <a:gdLst/>
              <a:ahLst/>
              <a:cxnLst/>
              <a:rect r="r" b="b" t="t" l="l"/>
              <a:pathLst>
                <a:path h="381000" w="762000">
                  <a:moveTo>
                    <a:pt x="38100" y="0"/>
                  </a:moveTo>
                  <a:lnTo>
                    <a:pt x="723900" y="0"/>
                  </a:lnTo>
                  <a:cubicBezTo>
                    <a:pt x="744942" y="0"/>
                    <a:pt x="762000" y="17058"/>
                    <a:pt x="762000" y="38100"/>
                  </a:cubicBezTo>
                  <a:lnTo>
                    <a:pt x="762000" y="342900"/>
                  </a:lnTo>
                  <a:cubicBezTo>
                    <a:pt x="762000" y="363942"/>
                    <a:pt x="744942" y="381000"/>
                    <a:pt x="72390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762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9" id="109"/>
          <p:cNvSpPr txBox="true"/>
          <p:nvPr/>
        </p:nvSpPr>
        <p:spPr>
          <a:xfrm rot="0">
            <a:off x="12649200" y="3648075"/>
            <a:ext cx="5715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N/A</a:t>
            </a:r>
          </a:p>
        </p:txBody>
      </p:sp>
      <p:grpSp>
        <p:nvGrpSpPr>
          <p:cNvPr name="Group 110" id="110"/>
          <p:cNvGrpSpPr/>
          <p:nvPr/>
        </p:nvGrpSpPr>
        <p:grpSpPr>
          <a:xfrm rot="0">
            <a:off x="2590800" y="4381500"/>
            <a:ext cx="10820400" cy="381000"/>
            <a:chOff x="0" y="0"/>
            <a:chExt cx="14427200" cy="5080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4427200" cy="508000"/>
            </a:xfrm>
            <a:custGeom>
              <a:avLst/>
              <a:gdLst/>
              <a:ahLst/>
              <a:cxnLst/>
              <a:rect r="r" b="b" t="t" l="l"/>
              <a:pathLst>
                <a:path h="508000" w="14427200">
                  <a:moveTo>
                    <a:pt x="50800" y="0"/>
                  </a:moveTo>
                  <a:lnTo>
                    <a:pt x="14376400" y="0"/>
                  </a:lnTo>
                  <a:cubicBezTo>
                    <a:pt x="14404456" y="0"/>
                    <a:pt x="14427200" y="22744"/>
                    <a:pt x="14427200" y="50800"/>
                  </a:cubicBezTo>
                  <a:lnTo>
                    <a:pt x="14427200" y="457200"/>
                  </a:lnTo>
                  <a:cubicBezTo>
                    <a:pt x="14427200" y="485256"/>
                    <a:pt x="14404456" y="508000"/>
                    <a:pt x="14376400" y="508000"/>
                  </a:cubicBezTo>
                  <a:lnTo>
                    <a:pt x="50800" y="508000"/>
                  </a:lnTo>
                  <a:cubicBezTo>
                    <a:pt x="22744" y="508000"/>
                    <a:pt x="0" y="485256"/>
                    <a:pt x="0" y="457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05252">
                <a:alpha val="9804"/>
              </a:srgbClr>
            </a:solid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44272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3" id="113"/>
          <p:cNvSpPr txBox="true"/>
          <p:nvPr/>
        </p:nvSpPr>
        <p:spPr>
          <a:xfrm rot="0">
            <a:off x="2781300" y="4448175"/>
            <a:ext cx="104394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E05252"/>
                </a:solidFill>
                <a:latin typeface="Inter"/>
                <a:ea typeface="Inter"/>
                <a:cs typeface="Inter"/>
                <a:sym typeface="Inter"/>
              </a:rPr>
              <a:t>Critical item failed — this mission is blocked from approval regardless of risk score.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2590800" y="4924425"/>
            <a:ext cx="3810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Remark / Evidence for failed item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2743200" y="5343525"/>
            <a:ext cx="105156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Describe the issue and attach evidence...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2590800" y="6134100"/>
            <a:ext cx="1428750" cy="438150"/>
            <a:chOff x="0" y="0"/>
            <a:chExt cx="1905000" cy="5842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905000" cy="584200"/>
            </a:xfrm>
            <a:custGeom>
              <a:avLst/>
              <a:gdLst/>
              <a:ahLst/>
              <a:cxnLst/>
              <a:rect r="r" b="b" t="t" l="l"/>
              <a:pathLst>
                <a:path h="584200" w="1905000">
                  <a:moveTo>
                    <a:pt x="50800" y="0"/>
                  </a:moveTo>
                  <a:lnTo>
                    <a:pt x="1854200" y="0"/>
                  </a:lnTo>
                  <a:cubicBezTo>
                    <a:pt x="1882256" y="0"/>
                    <a:pt x="1905000" y="26156"/>
                    <a:pt x="1905000" y="58420"/>
                  </a:cubicBezTo>
                  <a:lnTo>
                    <a:pt x="1905000" y="525780"/>
                  </a:lnTo>
                  <a:cubicBezTo>
                    <a:pt x="1905000" y="558045"/>
                    <a:pt x="1882256" y="584200"/>
                    <a:pt x="1854200" y="584200"/>
                  </a:cubicBezTo>
                  <a:lnTo>
                    <a:pt x="50800" y="584200"/>
                  </a:lnTo>
                  <a:cubicBezTo>
                    <a:pt x="22744" y="584200"/>
                    <a:pt x="0" y="558045"/>
                    <a:pt x="0" y="525780"/>
                  </a:cubicBezTo>
                  <a:lnTo>
                    <a:pt x="0" y="58420"/>
                  </a:lnTo>
                  <a:cubicBezTo>
                    <a:pt x="0" y="26156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19050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9" id="119"/>
          <p:cNvSpPr txBox="true"/>
          <p:nvPr/>
        </p:nvSpPr>
        <p:spPr>
          <a:xfrm rot="0">
            <a:off x="2590800" y="6219825"/>
            <a:ext cx="142875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Upload evidence</a:t>
            </a:r>
          </a:p>
        </p:txBody>
      </p:sp>
      <p:grpSp>
        <p:nvGrpSpPr>
          <p:cNvPr name="Group 120" id="120"/>
          <p:cNvGrpSpPr/>
          <p:nvPr/>
        </p:nvGrpSpPr>
        <p:grpSpPr>
          <a:xfrm rot="0">
            <a:off x="4171950" y="6134100"/>
            <a:ext cx="1524000" cy="438150"/>
            <a:chOff x="0" y="0"/>
            <a:chExt cx="2032000" cy="5842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032000" cy="584200"/>
            </a:xfrm>
            <a:custGeom>
              <a:avLst/>
              <a:gdLst/>
              <a:ahLst/>
              <a:cxnLst/>
              <a:rect r="r" b="b" t="t" l="l"/>
              <a:pathLst>
                <a:path h="584200" w="2032000">
                  <a:moveTo>
                    <a:pt x="50800" y="0"/>
                  </a:moveTo>
                  <a:lnTo>
                    <a:pt x="1981200" y="0"/>
                  </a:lnTo>
                  <a:cubicBezTo>
                    <a:pt x="2009256" y="0"/>
                    <a:pt x="2032000" y="26156"/>
                    <a:pt x="2032000" y="58420"/>
                  </a:cubicBezTo>
                  <a:lnTo>
                    <a:pt x="2032000" y="525780"/>
                  </a:lnTo>
                  <a:cubicBezTo>
                    <a:pt x="2032000" y="558045"/>
                    <a:pt x="2009256" y="584200"/>
                    <a:pt x="1981200" y="584200"/>
                  </a:cubicBezTo>
                  <a:lnTo>
                    <a:pt x="50800" y="584200"/>
                  </a:lnTo>
                  <a:cubicBezTo>
                    <a:pt x="22744" y="584200"/>
                    <a:pt x="0" y="558045"/>
                    <a:pt x="0" y="525780"/>
                  </a:cubicBezTo>
                  <a:lnTo>
                    <a:pt x="0" y="58420"/>
                  </a:lnTo>
                  <a:cubicBezTo>
                    <a:pt x="0" y="26156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20320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3" id="123"/>
          <p:cNvSpPr txBox="true"/>
          <p:nvPr/>
        </p:nvSpPr>
        <p:spPr>
          <a:xfrm rot="0">
            <a:off x="4171950" y="6219825"/>
            <a:ext cx="15240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9"/>
              </a:lnSpc>
              <a:spcBef>
                <a:spcPct val="0"/>
              </a:spcBef>
            </a:pPr>
            <a:r>
              <a:rPr lang="en-US" b="true" sz="1299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Submit Checklist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72575" y="1447800"/>
            <a:ext cx="4238625" cy="4953000"/>
            <a:chOff x="0" y="0"/>
            <a:chExt cx="5651500" cy="660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515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5651500">
                  <a:moveTo>
                    <a:pt x="565150" y="0"/>
                  </a:moveTo>
                  <a:lnTo>
                    <a:pt x="5086350" y="0"/>
                  </a:lnTo>
                  <a:cubicBezTo>
                    <a:pt x="5398474" y="0"/>
                    <a:pt x="5651500" y="253026"/>
                    <a:pt x="5651500" y="565150"/>
                  </a:cubicBezTo>
                  <a:lnTo>
                    <a:pt x="5651500" y="6038850"/>
                  </a:lnTo>
                  <a:cubicBezTo>
                    <a:pt x="5651500" y="6350974"/>
                    <a:pt x="5398474" y="6604000"/>
                    <a:pt x="5086350" y="6604000"/>
                  </a:cubicBezTo>
                  <a:lnTo>
                    <a:pt x="565150" y="6604000"/>
                  </a:lnTo>
                  <a:cubicBezTo>
                    <a:pt x="253026" y="6604000"/>
                    <a:pt x="0" y="6350974"/>
                    <a:pt x="0" y="6038850"/>
                  </a:cubicBezTo>
                  <a:lnTo>
                    <a:pt x="0" y="565150"/>
                  </a:lnTo>
                  <a:cubicBezTo>
                    <a:pt x="0" y="253026"/>
                    <a:pt x="253026" y="0"/>
                    <a:pt x="56515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6515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67150" y="1905000"/>
            <a:ext cx="2257425" cy="152400"/>
            <a:chOff x="0" y="0"/>
            <a:chExt cx="3009900" cy="203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09900" cy="203200"/>
            </a:xfrm>
            <a:custGeom>
              <a:avLst/>
              <a:gdLst/>
              <a:ahLst/>
              <a:cxnLst/>
              <a:rect r="r" b="b" t="t" l="l"/>
              <a:pathLst>
                <a:path h="203200" w="3009900">
                  <a:moveTo>
                    <a:pt x="2908300" y="0"/>
                  </a:moveTo>
                  <a:cubicBezTo>
                    <a:pt x="2964412" y="0"/>
                    <a:pt x="3009900" y="45488"/>
                    <a:pt x="3009900" y="101600"/>
                  </a:cubicBezTo>
                  <a:cubicBezTo>
                    <a:pt x="3009900" y="157712"/>
                    <a:pt x="2964412" y="203200"/>
                    <a:pt x="2908300" y="203200"/>
                  </a:cubicBezTo>
                  <a:lnTo>
                    <a:pt x="101600" y="203200"/>
                  </a:ln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E6A81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0099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90800" y="1447800"/>
            <a:ext cx="6353175" cy="4953000"/>
            <a:chOff x="0" y="0"/>
            <a:chExt cx="8470900" cy="660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4709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8470900">
                  <a:moveTo>
                    <a:pt x="660400" y="0"/>
                  </a:moveTo>
                  <a:lnTo>
                    <a:pt x="7810500" y="0"/>
                  </a:lnTo>
                  <a:cubicBezTo>
                    <a:pt x="8175229" y="0"/>
                    <a:pt x="8470900" y="295671"/>
                    <a:pt x="8470900" y="660400"/>
                  </a:cubicBezTo>
                  <a:lnTo>
                    <a:pt x="8470900" y="5943600"/>
                  </a:lnTo>
                  <a:cubicBezTo>
                    <a:pt x="8470900" y="6308329"/>
                    <a:pt x="8175229" y="6604000"/>
                    <a:pt x="7810500" y="6604000"/>
                  </a:cubicBezTo>
                  <a:lnTo>
                    <a:pt x="660400" y="6604000"/>
                  </a:lnTo>
                  <a:cubicBezTo>
                    <a:pt x="295671" y="6604000"/>
                    <a:pt x="0" y="6308329"/>
                    <a:pt x="0" y="5943600"/>
                  </a:cubicBezTo>
                  <a:lnTo>
                    <a:pt x="0" y="660400"/>
                  </a:lnTo>
                  <a:cubicBezTo>
                    <a:pt x="0" y="295671"/>
                    <a:pt x="295671" y="0"/>
                    <a:pt x="660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4709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200" y="2895600"/>
            <a:ext cx="2133600" cy="323850"/>
            <a:chOff x="0" y="0"/>
            <a:chExt cx="2844800" cy="431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4800" cy="431800"/>
            </a:xfrm>
            <a:custGeom>
              <a:avLst/>
              <a:gdLst/>
              <a:ahLst/>
              <a:cxnLst/>
              <a:rect r="r" b="b" t="t" l="l"/>
              <a:pathLst>
                <a:path h="431800" w="2844800">
                  <a:moveTo>
                    <a:pt x="43180" y="0"/>
                  </a:moveTo>
                  <a:lnTo>
                    <a:pt x="2801620" y="0"/>
                  </a:lnTo>
                  <a:cubicBezTo>
                    <a:pt x="2825468" y="0"/>
                    <a:pt x="2844800" y="19332"/>
                    <a:pt x="2844800" y="43180"/>
                  </a:cubicBezTo>
                  <a:lnTo>
                    <a:pt x="2844800" y="388620"/>
                  </a:lnTo>
                  <a:cubicBezTo>
                    <a:pt x="2844800" y="412468"/>
                    <a:pt x="2825468" y="431800"/>
                    <a:pt x="2801620" y="431800"/>
                  </a:cubicBezTo>
                  <a:lnTo>
                    <a:pt x="43180" y="431800"/>
                  </a:lnTo>
                  <a:cubicBezTo>
                    <a:pt x="19332" y="431800"/>
                    <a:pt x="0" y="412468"/>
                    <a:pt x="0" y="388620"/>
                  </a:cubicBezTo>
                  <a:lnTo>
                    <a:pt x="0" y="43180"/>
                  </a:lnTo>
                  <a:cubicBezTo>
                    <a:pt x="0" y="19332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1A2F4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4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2286000" cy="9753600"/>
            <a:chOff x="0" y="0"/>
            <a:chExt cx="3048000" cy="13004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4800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3004800"/>
                  </a:lnTo>
                  <a:lnTo>
                    <a:pt x="0" y="13004800"/>
                  </a:lnTo>
                  <a:close/>
                </a:path>
              </a:pathLst>
            </a:custGeom>
            <a:solidFill>
              <a:srgbClr val="0A1A2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048000" cy="130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57200" y="142875"/>
            <a:ext cx="19050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Aero</a:t>
            </a:r>
            <a:r>
              <a:rPr lang="en-US" sz="2400" strike="noStrike" u="none">
                <a:solidFill>
                  <a:srgbClr val="0FA3A3"/>
                </a:solidFill>
                <a:latin typeface="DIN Next"/>
                <a:ea typeface="DIN Next"/>
                <a:cs typeface="DIN Next"/>
                <a:sym typeface="DIN Next"/>
              </a:rPr>
              <a:t>Ready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8150" y="10858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8150" y="14478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Drones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8150" y="18097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Batteries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8150" y="21717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Missions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8150" y="25336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Checklists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8150" y="28956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Risk &amp; Approval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8150" y="32575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Maintenance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38150" y="36195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Reports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8150" y="39814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Traceability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38150" y="43434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Users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38150" y="47053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Settings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286000" y="0"/>
            <a:ext cx="11430000" cy="609600"/>
            <a:chOff x="0" y="0"/>
            <a:chExt cx="152400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00" cy="812800"/>
            </a:xfrm>
            <a:custGeom>
              <a:avLst/>
              <a:gdLst/>
              <a:ahLst/>
              <a:cxnLst/>
              <a:rect r="r" b="b" t="t" l="l"/>
              <a:pathLst>
                <a:path h="8128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52400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144500" y="133350"/>
            <a:ext cx="342900" cy="342900"/>
            <a:chOff x="0" y="0"/>
            <a:chExt cx="457200" cy="457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D1D9E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228600" y="11144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▣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8600" y="14763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✈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28600" y="18383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⚡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8600" y="22002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◎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28600" y="25622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☑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8600" y="29241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⚠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28600" y="32861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28600" y="36480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▤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28600" y="40100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⛓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28600" y="43719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👤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28600" y="47339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144500" y="180975"/>
            <a:ext cx="3429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JD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590800" y="714375"/>
            <a:ext cx="6667500" cy="42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1A2B3C"/>
                </a:solidFill>
                <a:latin typeface="DIN Next Bold"/>
                <a:ea typeface="DIN Next Bold"/>
                <a:cs typeface="DIN Next Bold"/>
                <a:sym typeface="DIN Next Bold"/>
              </a:rPr>
              <a:t>Payload Drop Test — Risk Result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590800" y="1076325"/>
            <a:ext cx="47625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Submitted by Zarnab A. · Checklist completed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819400" y="1447800"/>
            <a:ext cx="952500" cy="107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 strike="noStrike" u="none">
                <a:solidFill>
                  <a:srgbClr val="E6A817"/>
                </a:solidFill>
                <a:latin typeface="DIN Next Bold"/>
                <a:ea typeface="DIN Next Bold"/>
                <a:cs typeface="DIN Next Bold"/>
                <a:sym typeface="DIN Next Bold"/>
              </a:rPr>
              <a:t>58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3867150" y="1905000"/>
            <a:ext cx="3895725" cy="152400"/>
            <a:chOff x="0" y="0"/>
            <a:chExt cx="5194300" cy="203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94300" cy="203200"/>
            </a:xfrm>
            <a:custGeom>
              <a:avLst/>
              <a:gdLst/>
              <a:ahLst/>
              <a:cxnLst/>
              <a:rect r="r" b="b" t="t" l="l"/>
              <a:pathLst>
                <a:path h="203200" w="5194300">
                  <a:moveTo>
                    <a:pt x="5092700" y="0"/>
                  </a:moveTo>
                  <a:cubicBezTo>
                    <a:pt x="5148812" y="0"/>
                    <a:pt x="5194300" y="45488"/>
                    <a:pt x="5194300" y="101600"/>
                  </a:cubicBezTo>
                  <a:cubicBezTo>
                    <a:pt x="5194300" y="157712"/>
                    <a:pt x="5148812" y="203200"/>
                    <a:pt x="5092700" y="203200"/>
                  </a:cubicBezTo>
                  <a:lnTo>
                    <a:pt x="101600" y="203200"/>
                  </a:ln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1943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3" id="53"/>
          <p:cNvSpPr/>
          <p:nvPr/>
        </p:nvSpPr>
        <p:spPr>
          <a:xfrm>
            <a:off x="228600" y="628650"/>
            <a:ext cx="533400" cy="0"/>
          </a:xfrm>
          <a:prstGeom prst="line">
            <a:avLst/>
          </a:prstGeom>
          <a:ln cap="rnd" w="19050">
            <a:solidFill>
              <a:srgbClr val="0FA3A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7877175" y="1857375"/>
            <a:ext cx="762000" cy="247650"/>
            <a:chOff x="0" y="0"/>
            <a:chExt cx="1016000" cy="330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16000" cy="330200"/>
            </a:xfrm>
            <a:custGeom>
              <a:avLst/>
              <a:gdLst/>
              <a:ahLst/>
              <a:cxnLst/>
              <a:rect r="r" b="b" t="t" l="l"/>
              <a:pathLst>
                <a:path h="330200" w="1016000">
                  <a:moveTo>
                    <a:pt x="850900" y="0"/>
                  </a:moveTo>
                  <a:cubicBezTo>
                    <a:pt x="942082" y="0"/>
                    <a:pt x="1016000" y="73918"/>
                    <a:pt x="1016000" y="165100"/>
                  </a:cubicBezTo>
                  <a:cubicBezTo>
                    <a:pt x="1016000" y="256282"/>
                    <a:pt x="942082" y="330200"/>
                    <a:pt x="850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E6A817">
                <a:alpha val="14902"/>
              </a:srgbClr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160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228600" y="314325"/>
            <a:ext cx="171450" cy="171450"/>
            <a:chOff x="0" y="0"/>
            <a:chExt cx="228600" cy="228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7877175" y="1866900"/>
            <a:ext cx="762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E6A817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819400" y="2505075"/>
            <a:ext cx="2857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1A2B3C"/>
                </a:solidFill>
                <a:latin typeface="Inter Bold"/>
                <a:ea typeface="Inter Bold"/>
                <a:cs typeface="Inter Bold"/>
                <a:sym typeface="Inter Bold"/>
              </a:rPr>
              <a:t>Contributing conditions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2819400" y="2886075"/>
            <a:ext cx="95250" cy="95250"/>
            <a:chOff x="0" y="0"/>
            <a:chExt cx="127000" cy="127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E6A817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2990850" y="2809875"/>
            <a:ext cx="5705475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Battery health — Low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2819400" y="3267075"/>
            <a:ext cx="95250" cy="95250"/>
            <a:chOff x="0" y="0"/>
            <a:chExt cx="127000" cy="1270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E6A817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2990850" y="3190875"/>
            <a:ext cx="5705475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Weather — wind speed 18km/h — Medium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2819400" y="3648075"/>
            <a:ext cx="95250" cy="95250"/>
            <a:chOff x="0" y="0"/>
            <a:chExt cx="127000" cy="1270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E6A817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2990850" y="3571875"/>
            <a:ext cx="5705475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Payload weight vs rated capacity — Medium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819400" y="4143375"/>
            <a:ext cx="2857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1A2B3C"/>
                </a:solidFill>
                <a:latin typeface="Inter Bold"/>
                <a:ea typeface="Inter Bold"/>
                <a:cs typeface="Inter Bold"/>
                <a:sym typeface="Inter Bold"/>
              </a:rPr>
              <a:t>Blocking reasons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819400" y="4410075"/>
            <a:ext cx="5895975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None — no critical checklist item failed.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401175" y="1638300"/>
            <a:ext cx="28575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1A2B3C"/>
                </a:solidFill>
                <a:latin typeface="Inter Bold"/>
                <a:ea typeface="Inter Bold"/>
                <a:cs typeface="Inter Bold"/>
                <a:sym typeface="Inter Bold"/>
              </a:rPr>
              <a:t>Decision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401175" y="1990725"/>
            <a:ext cx="3781425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Remark (required if rejecting)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9401175" y="2247900"/>
            <a:ext cx="3781425" cy="762000"/>
            <a:chOff x="0" y="0"/>
            <a:chExt cx="5041900" cy="10160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0419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5041900">
                  <a:moveTo>
                    <a:pt x="101600" y="0"/>
                  </a:moveTo>
                  <a:lnTo>
                    <a:pt x="4940300" y="0"/>
                  </a:lnTo>
                  <a:cubicBezTo>
                    <a:pt x="4996412" y="0"/>
                    <a:pt x="5041900" y="45488"/>
                    <a:pt x="5041900" y="101600"/>
                  </a:cubicBezTo>
                  <a:lnTo>
                    <a:pt x="5041900" y="914400"/>
                  </a:lnTo>
                  <a:cubicBezTo>
                    <a:pt x="5041900" y="970512"/>
                    <a:pt x="4996412" y="1016000"/>
                    <a:pt x="49403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0419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9515475" y="2333625"/>
            <a:ext cx="3552825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Enter remark...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9401175" y="3200400"/>
            <a:ext cx="3781425" cy="457200"/>
            <a:chOff x="0" y="0"/>
            <a:chExt cx="5041900" cy="6096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041900" cy="609600"/>
            </a:xfrm>
            <a:custGeom>
              <a:avLst/>
              <a:gdLst/>
              <a:ahLst/>
              <a:cxnLst/>
              <a:rect r="r" b="b" t="t" l="l"/>
              <a:pathLst>
                <a:path h="609600" w="5041900">
                  <a:moveTo>
                    <a:pt x="55880" y="0"/>
                  </a:moveTo>
                  <a:lnTo>
                    <a:pt x="4986020" y="0"/>
                  </a:lnTo>
                  <a:cubicBezTo>
                    <a:pt x="5016882" y="0"/>
                    <a:pt x="5041900" y="27293"/>
                    <a:pt x="5041900" y="60960"/>
                  </a:cubicBezTo>
                  <a:lnTo>
                    <a:pt x="5041900" y="548640"/>
                  </a:lnTo>
                  <a:cubicBezTo>
                    <a:pt x="5041900" y="582307"/>
                    <a:pt x="5016882" y="609600"/>
                    <a:pt x="4986020" y="609600"/>
                  </a:cubicBezTo>
                  <a:lnTo>
                    <a:pt x="55880" y="609600"/>
                  </a:lnTo>
                  <a:cubicBezTo>
                    <a:pt x="41060" y="609600"/>
                    <a:pt x="26846" y="603177"/>
                    <a:pt x="16367" y="591745"/>
                  </a:cubicBezTo>
                  <a:cubicBezTo>
                    <a:pt x="5887" y="580313"/>
                    <a:pt x="0" y="564808"/>
                    <a:pt x="0" y="548640"/>
                  </a:cubicBezTo>
                  <a:lnTo>
                    <a:pt x="0" y="60960"/>
                  </a:lnTo>
                  <a:cubicBezTo>
                    <a:pt x="0" y="27293"/>
                    <a:pt x="25018" y="0"/>
                    <a:pt x="55880" y="0"/>
                  </a:cubicBez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50419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9391650" y="3286125"/>
            <a:ext cx="378142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Approve Mission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9401175" y="3771900"/>
            <a:ext cx="3781425" cy="457200"/>
            <a:chOff x="0" y="0"/>
            <a:chExt cx="5041900" cy="6096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041900" cy="609600"/>
            </a:xfrm>
            <a:custGeom>
              <a:avLst/>
              <a:gdLst/>
              <a:ahLst/>
              <a:cxnLst/>
              <a:rect r="r" b="b" t="t" l="l"/>
              <a:pathLst>
                <a:path h="609600" w="5041900">
                  <a:moveTo>
                    <a:pt x="55880" y="0"/>
                  </a:moveTo>
                  <a:lnTo>
                    <a:pt x="4986020" y="0"/>
                  </a:lnTo>
                  <a:cubicBezTo>
                    <a:pt x="5016882" y="0"/>
                    <a:pt x="5041900" y="27293"/>
                    <a:pt x="5041900" y="60960"/>
                  </a:cubicBezTo>
                  <a:lnTo>
                    <a:pt x="5041900" y="548640"/>
                  </a:lnTo>
                  <a:cubicBezTo>
                    <a:pt x="5041900" y="582307"/>
                    <a:pt x="5016882" y="609600"/>
                    <a:pt x="4986020" y="609600"/>
                  </a:cubicBezTo>
                  <a:lnTo>
                    <a:pt x="55880" y="609600"/>
                  </a:lnTo>
                  <a:cubicBezTo>
                    <a:pt x="41060" y="609600"/>
                    <a:pt x="26846" y="603177"/>
                    <a:pt x="16367" y="591745"/>
                  </a:cubicBezTo>
                  <a:cubicBezTo>
                    <a:pt x="5887" y="580313"/>
                    <a:pt x="0" y="564808"/>
                    <a:pt x="0" y="548640"/>
                  </a:cubicBezTo>
                  <a:lnTo>
                    <a:pt x="0" y="60960"/>
                  </a:lnTo>
                  <a:cubicBezTo>
                    <a:pt x="0" y="27293"/>
                    <a:pt x="25018" y="0"/>
                    <a:pt x="5588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05252"/>
              </a:solidFill>
              <a:prstDash val="solid"/>
              <a:miter/>
            </a:ln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50419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9391650" y="3857625"/>
            <a:ext cx="378142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E05252"/>
                </a:solidFill>
                <a:latin typeface="Inter Bold"/>
                <a:ea typeface="Inter Bold"/>
                <a:cs typeface="Inter Bold"/>
                <a:sym typeface="Inter Bold"/>
              </a:rPr>
              <a:t>Reject Mission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9401175" y="4343400"/>
            <a:ext cx="3781425" cy="762000"/>
            <a:chOff x="0" y="0"/>
            <a:chExt cx="5041900" cy="10160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0419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5041900">
                  <a:moveTo>
                    <a:pt x="101600" y="0"/>
                  </a:moveTo>
                  <a:lnTo>
                    <a:pt x="4940300" y="0"/>
                  </a:lnTo>
                  <a:cubicBezTo>
                    <a:pt x="4996412" y="0"/>
                    <a:pt x="5041900" y="45488"/>
                    <a:pt x="5041900" y="101600"/>
                  </a:cubicBezTo>
                  <a:lnTo>
                    <a:pt x="5041900" y="914400"/>
                  </a:lnTo>
                  <a:cubicBezTo>
                    <a:pt x="5041900" y="970512"/>
                    <a:pt x="4996412" y="1016000"/>
                    <a:pt x="49403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8F9FA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50419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3" id="93"/>
          <p:cNvSpPr txBox="true"/>
          <p:nvPr/>
        </p:nvSpPr>
        <p:spPr>
          <a:xfrm rot="0">
            <a:off x="9515475" y="4429125"/>
            <a:ext cx="3552825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Medium-risk missions require Administrator sign-off. An Operator cannot approve their own or any Medium/High-risk mission.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90800" y="4152900"/>
            <a:ext cx="10820400" cy="5295900"/>
            <a:chOff x="0" y="0"/>
            <a:chExt cx="14427200" cy="706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7200" cy="7061200"/>
            </a:xfrm>
            <a:custGeom>
              <a:avLst/>
              <a:gdLst/>
              <a:ahLst/>
              <a:cxnLst/>
              <a:rect r="r" b="b" t="t" l="l"/>
              <a:pathLst>
                <a:path h="7061200" w="14427200">
                  <a:moveTo>
                    <a:pt x="706120" y="0"/>
                  </a:moveTo>
                  <a:lnTo>
                    <a:pt x="13721080" y="0"/>
                  </a:lnTo>
                  <a:cubicBezTo>
                    <a:pt x="14111060" y="0"/>
                    <a:pt x="14427200" y="316141"/>
                    <a:pt x="14427200" y="706120"/>
                  </a:cubicBezTo>
                  <a:lnTo>
                    <a:pt x="14427200" y="6355080"/>
                  </a:lnTo>
                  <a:cubicBezTo>
                    <a:pt x="14427200" y="6745059"/>
                    <a:pt x="14111060" y="7061200"/>
                    <a:pt x="13721080" y="7061200"/>
                  </a:cubicBezTo>
                  <a:lnTo>
                    <a:pt x="706120" y="7061200"/>
                  </a:lnTo>
                  <a:cubicBezTo>
                    <a:pt x="518845" y="7061200"/>
                    <a:pt x="339241" y="6986805"/>
                    <a:pt x="206818" y="6854382"/>
                  </a:cubicBezTo>
                  <a:cubicBezTo>
                    <a:pt x="74395" y="6721959"/>
                    <a:pt x="0" y="6542355"/>
                    <a:pt x="0" y="6355080"/>
                  </a:cubicBezTo>
                  <a:lnTo>
                    <a:pt x="0" y="706120"/>
                  </a:lnTo>
                  <a:cubicBezTo>
                    <a:pt x="0" y="316141"/>
                    <a:pt x="316141" y="0"/>
                    <a:pt x="7061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427200" cy="709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2819400" y="3409950"/>
            <a:ext cx="10363200" cy="0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819400" y="2952750"/>
            <a:ext cx="10363200" cy="0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2590800" y="1924050"/>
            <a:ext cx="10820400" cy="2000250"/>
            <a:chOff x="0" y="0"/>
            <a:chExt cx="14427200" cy="266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4272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14427200">
                  <a:moveTo>
                    <a:pt x="266700" y="0"/>
                  </a:moveTo>
                  <a:lnTo>
                    <a:pt x="14160500" y="0"/>
                  </a:lnTo>
                  <a:cubicBezTo>
                    <a:pt x="14307795" y="0"/>
                    <a:pt x="14427200" y="119406"/>
                    <a:pt x="14427200" y="266700"/>
                  </a:cubicBezTo>
                  <a:lnTo>
                    <a:pt x="14427200" y="2400300"/>
                  </a:lnTo>
                  <a:cubicBezTo>
                    <a:pt x="14427200" y="2547594"/>
                    <a:pt x="14307795" y="2667000"/>
                    <a:pt x="14160500" y="2667000"/>
                  </a:cubicBezTo>
                  <a:lnTo>
                    <a:pt x="266700" y="2667000"/>
                  </a:lnTo>
                  <a:cubicBezTo>
                    <a:pt x="119406" y="2667000"/>
                    <a:pt x="0" y="2547594"/>
                    <a:pt x="0" y="2400300"/>
                  </a:cubicBezTo>
                  <a:lnTo>
                    <a:pt x="0" y="266700"/>
                  </a:ln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4272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6200" y="3257550"/>
            <a:ext cx="2133600" cy="323850"/>
            <a:chOff x="0" y="0"/>
            <a:chExt cx="2844800" cy="431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4800" cy="431800"/>
            </a:xfrm>
            <a:custGeom>
              <a:avLst/>
              <a:gdLst/>
              <a:ahLst/>
              <a:cxnLst/>
              <a:rect r="r" b="b" t="t" l="l"/>
              <a:pathLst>
                <a:path h="431800" w="2844800">
                  <a:moveTo>
                    <a:pt x="43180" y="0"/>
                  </a:moveTo>
                  <a:lnTo>
                    <a:pt x="2801620" y="0"/>
                  </a:lnTo>
                  <a:cubicBezTo>
                    <a:pt x="2825468" y="0"/>
                    <a:pt x="2844800" y="19332"/>
                    <a:pt x="2844800" y="43180"/>
                  </a:cubicBezTo>
                  <a:lnTo>
                    <a:pt x="2844800" y="388620"/>
                  </a:lnTo>
                  <a:cubicBezTo>
                    <a:pt x="2844800" y="412468"/>
                    <a:pt x="2825468" y="431800"/>
                    <a:pt x="2801620" y="431800"/>
                  </a:cubicBezTo>
                  <a:lnTo>
                    <a:pt x="43180" y="431800"/>
                  </a:lnTo>
                  <a:cubicBezTo>
                    <a:pt x="19332" y="431800"/>
                    <a:pt x="0" y="412468"/>
                    <a:pt x="0" y="388620"/>
                  </a:cubicBezTo>
                  <a:lnTo>
                    <a:pt x="0" y="43180"/>
                  </a:lnTo>
                  <a:cubicBezTo>
                    <a:pt x="0" y="19332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1A2F4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4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0"/>
            <a:ext cx="2286000" cy="9753600"/>
            <a:chOff x="0" y="0"/>
            <a:chExt cx="3048000" cy="13004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4800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3004800"/>
                  </a:lnTo>
                  <a:lnTo>
                    <a:pt x="0" y="13004800"/>
                  </a:lnTo>
                  <a:close/>
                </a:path>
              </a:pathLst>
            </a:custGeom>
            <a:solidFill>
              <a:srgbClr val="0A1A2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048000" cy="130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57200" y="142875"/>
            <a:ext cx="19050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Aero</a:t>
            </a:r>
            <a:r>
              <a:rPr lang="en-US" sz="2400" strike="noStrike" u="none">
                <a:solidFill>
                  <a:srgbClr val="0FA3A3"/>
                </a:solidFill>
                <a:latin typeface="DIN Next"/>
                <a:ea typeface="DIN Next"/>
                <a:cs typeface="DIN Next"/>
                <a:sym typeface="DIN Next"/>
              </a:rPr>
              <a:t>Ready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8150" y="10858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8150" y="14478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Drones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8150" y="18097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Batteries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8150" y="21717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Missions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8150" y="25336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Checklists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8150" y="28956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Risk &amp; Approval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8150" y="32575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Maintenance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8150" y="36195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Reports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38150" y="39814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Traceability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8150" y="43434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Users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38150" y="47053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Settings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286000" y="0"/>
            <a:ext cx="11430000" cy="609600"/>
            <a:chOff x="0" y="0"/>
            <a:chExt cx="152400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240000" cy="812800"/>
            </a:xfrm>
            <a:custGeom>
              <a:avLst/>
              <a:gdLst/>
              <a:ahLst/>
              <a:cxnLst/>
              <a:rect r="r" b="b" t="t" l="l"/>
              <a:pathLst>
                <a:path h="8128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52400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28600" y="11144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▣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28600" y="14763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✈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28600" y="18383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⚡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28600" y="22002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◎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28600" y="25622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☑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8600" y="29241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⚠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28600" y="32861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8600" y="36480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▤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28600" y="40100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⛓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8600" y="43719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👤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28600" y="47339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3144500" y="133350"/>
            <a:ext cx="342900" cy="342900"/>
            <a:chOff x="0" y="0"/>
            <a:chExt cx="457200" cy="457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D1D9E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3144500" y="180975"/>
            <a:ext cx="3429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JD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590800" y="733425"/>
            <a:ext cx="28575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A2B3C"/>
                </a:solidFill>
                <a:latin typeface="DIN Next Bold"/>
                <a:ea typeface="DIN Next Bold"/>
                <a:cs typeface="DIN Next Bold"/>
                <a:sym typeface="DIN Next Bold"/>
              </a:rPr>
              <a:t>Maintenance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2590800" y="1295400"/>
            <a:ext cx="3048000" cy="400050"/>
            <a:chOff x="0" y="0"/>
            <a:chExt cx="4064000" cy="533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064000" cy="533400"/>
            </a:xfrm>
            <a:custGeom>
              <a:avLst/>
              <a:gdLst/>
              <a:ahLst/>
              <a:cxnLst/>
              <a:rect r="r" b="b" t="t" l="l"/>
              <a:pathLst>
                <a:path h="533400" w="4064000">
                  <a:moveTo>
                    <a:pt x="53340" y="0"/>
                  </a:moveTo>
                  <a:lnTo>
                    <a:pt x="4010660" y="0"/>
                  </a:lnTo>
                  <a:cubicBezTo>
                    <a:pt x="4024807" y="0"/>
                    <a:pt x="4038374" y="5620"/>
                    <a:pt x="4048377" y="15623"/>
                  </a:cubicBezTo>
                  <a:cubicBezTo>
                    <a:pt x="4058380" y="25626"/>
                    <a:pt x="4064000" y="39193"/>
                    <a:pt x="4064000" y="53340"/>
                  </a:cubicBezTo>
                  <a:lnTo>
                    <a:pt x="4064000" y="480060"/>
                  </a:lnTo>
                  <a:cubicBezTo>
                    <a:pt x="4064000" y="494207"/>
                    <a:pt x="4058380" y="507774"/>
                    <a:pt x="4048377" y="517777"/>
                  </a:cubicBezTo>
                  <a:cubicBezTo>
                    <a:pt x="4038374" y="527780"/>
                    <a:pt x="4024807" y="533400"/>
                    <a:pt x="4010660" y="533400"/>
                  </a:cubicBezTo>
                  <a:lnTo>
                    <a:pt x="53340" y="533400"/>
                  </a:lnTo>
                  <a:cubicBezTo>
                    <a:pt x="39193" y="533400"/>
                    <a:pt x="25626" y="527780"/>
                    <a:pt x="15623" y="517777"/>
                  </a:cubicBezTo>
                  <a:cubicBezTo>
                    <a:pt x="5620" y="507774"/>
                    <a:pt x="0" y="494207"/>
                    <a:pt x="0" y="480060"/>
                  </a:cubicBezTo>
                  <a:lnTo>
                    <a:pt x="0" y="53340"/>
                  </a:lnTo>
                  <a:cubicBezTo>
                    <a:pt x="0" y="23881"/>
                    <a:pt x="23881" y="0"/>
                    <a:pt x="5334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0640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2819400" y="1362075"/>
            <a:ext cx="27432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Search open issues...</a:t>
            </a:r>
          </a:p>
        </p:txBody>
      </p:sp>
      <p:sp>
        <p:nvSpPr>
          <p:cNvPr name="AutoShape 51" id="51"/>
          <p:cNvSpPr/>
          <p:nvPr/>
        </p:nvSpPr>
        <p:spPr>
          <a:xfrm>
            <a:off x="228600" y="628650"/>
            <a:ext cx="533400" cy="0"/>
          </a:xfrm>
          <a:prstGeom prst="line">
            <a:avLst/>
          </a:prstGeom>
          <a:ln cap="rnd" w="19050">
            <a:solidFill>
              <a:srgbClr val="0FA3A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11982450" y="1295400"/>
            <a:ext cx="1428750" cy="438150"/>
            <a:chOff x="0" y="0"/>
            <a:chExt cx="1905000" cy="584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05000" cy="584200"/>
            </a:xfrm>
            <a:custGeom>
              <a:avLst/>
              <a:gdLst/>
              <a:ahLst/>
              <a:cxnLst/>
              <a:rect r="r" b="b" t="t" l="l"/>
              <a:pathLst>
                <a:path h="584200" w="1905000">
                  <a:moveTo>
                    <a:pt x="53340" y="0"/>
                  </a:moveTo>
                  <a:lnTo>
                    <a:pt x="1851660" y="0"/>
                  </a:lnTo>
                  <a:cubicBezTo>
                    <a:pt x="1881119" y="0"/>
                    <a:pt x="1905000" y="26156"/>
                    <a:pt x="1905000" y="58420"/>
                  </a:cubicBezTo>
                  <a:lnTo>
                    <a:pt x="1905000" y="525780"/>
                  </a:lnTo>
                  <a:cubicBezTo>
                    <a:pt x="1905000" y="558044"/>
                    <a:pt x="1881119" y="584200"/>
                    <a:pt x="1851660" y="584200"/>
                  </a:cubicBezTo>
                  <a:lnTo>
                    <a:pt x="53340" y="584200"/>
                  </a:lnTo>
                  <a:cubicBezTo>
                    <a:pt x="39193" y="584200"/>
                    <a:pt x="25626" y="578045"/>
                    <a:pt x="15623" y="567089"/>
                  </a:cubicBezTo>
                  <a:cubicBezTo>
                    <a:pt x="5620" y="556133"/>
                    <a:pt x="0" y="541274"/>
                    <a:pt x="0" y="525780"/>
                  </a:cubicBezTo>
                  <a:lnTo>
                    <a:pt x="0" y="58420"/>
                  </a:lnTo>
                  <a:cubicBezTo>
                    <a:pt x="0" y="26156"/>
                    <a:pt x="23881" y="0"/>
                    <a:pt x="53340" y="0"/>
                  </a:cubicBez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9050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28600" y="314325"/>
            <a:ext cx="171450" cy="171450"/>
            <a:chOff x="0" y="0"/>
            <a:chExt cx="228600" cy="2286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1982450" y="1371600"/>
            <a:ext cx="1428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+ Report Issue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819400" y="2085975"/>
            <a:ext cx="1047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Asset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962400" y="2085975"/>
            <a:ext cx="1428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Issue Type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486400" y="2085975"/>
            <a:ext cx="1047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Severity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629400" y="2085975"/>
            <a:ext cx="1238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Reported By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962900" y="2085975"/>
            <a:ext cx="1143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201150" y="2085975"/>
            <a:ext cx="952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Action</a:t>
            </a:r>
          </a:p>
        </p:txBody>
      </p:sp>
      <p:sp>
        <p:nvSpPr>
          <p:cNvPr name="AutoShape 65" id="65"/>
          <p:cNvSpPr/>
          <p:nvPr/>
        </p:nvSpPr>
        <p:spPr>
          <a:xfrm>
            <a:off x="2819400" y="2381250"/>
            <a:ext cx="10363200" cy="0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6" id="66"/>
          <p:cNvSpPr txBox="true"/>
          <p:nvPr/>
        </p:nvSpPr>
        <p:spPr>
          <a:xfrm rot="0">
            <a:off x="2819400" y="2533650"/>
            <a:ext cx="1047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DR-009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3962400" y="2533650"/>
            <a:ext cx="1428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Motor vibration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5486400" y="2533650"/>
            <a:ext cx="714375" cy="247650"/>
            <a:chOff x="0" y="0"/>
            <a:chExt cx="952500" cy="330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52500" cy="330200"/>
            </a:xfrm>
            <a:custGeom>
              <a:avLst/>
              <a:gdLst/>
              <a:ahLst/>
              <a:cxnLst/>
              <a:rect r="r" b="b" t="t" l="l"/>
              <a:pathLst>
                <a:path h="330200" w="952500">
                  <a:moveTo>
                    <a:pt x="787400" y="0"/>
                  </a:moveTo>
                  <a:cubicBezTo>
                    <a:pt x="878582" y="0"/>
                    <a:pt x="952500" y="73918"/>
                    <a:pt x="952500" y="165100"/>
                  </a:cubicBezTo>
                  <a:cubicBezTo>
                    <a:pt x="952500" y="256282"/>
                    <a:pt x="878582" y="330200"/>
                    <a:pt x="7874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E6A817">
                <a:alpha val="14902"/>
              </a:srgbClr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525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5476875" y="2543175"/>
            <a:ext cx="71437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E6A817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6629400" y="2533650"/>
            <a:ext cx="1238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H. Raza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7962900" y="2533650"/>
            <a:ext cx="762000" cy="247650"/>
            <a:chOff x="0" y="0"/>
            <a:chExt cx="1016000" cy="3302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16000" cy="330200"/>
            </a:xfrm>
            <a:custGeom>
              <a:avLst/>
              <a:gdLst/>
              <a:ahLst/>
              <a:cxnLst/>
              <a:rect r="r" b="b" t="t" l="l"/>
              <a:pathLst>
                <a:path h="330200" w="1016000">
                  <a:moveTo>
                    <a:pt x="850900" y="0"/>
                  </a:moveTo>
                  <a:cubicBezTo>
                    <a:pt x="942082" y="0"/>
                    <a:pt x="1016000" y="73918"/>
                    <a:pt x="1016000" y="165100"/>
                  </a:cubicBezTo>
                  <a:cubicBezTo>
                    <a:pt x="1016000" y="256282"/>
                    <a:pt x="942082" y="330200"/>
                    <a:pt x="850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E6A817">
                <a:alpha val="14902"/>
              </a:srgbClr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0160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7962900" y="2543175"/>
            <a:ext cx="762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E6A817"/>
                </a:solidFill>
                <a:latin typeface="Inter"/>
                <a:ea typeface="Inter"/>
                <a:cs typeface="Inter"/>
                <a:sym typeface="Inter"/>
              </a:rPr>
              <a:t>Open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201150" y="2533650"/>
            <a:ext cx="952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0FA3A3"/>
                </a:solidFill>
                <a:latin typeface="Inter"/>
                <a:ea typeface="Inter"/>
                <a:cs typeface="Inter"/>
                <a:sym typeface="Inter"/>
              </a:rPr>
              <a:t>Resolve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819400" y="2990850"/>
            <a:ext cx="1047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DR-012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3962400" y="2990850"/>
            <a:ext cx="1428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Frame cracked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5486400" y="2990850"/>
            <a:ext cx="714375" cy="247650"/>
            <a:chOff x="0" y="0"/>
            <a:chExt cx="952500" cy="330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52500" cy="330200"/>
            </a:xfrm>
            <a:custGeom>
              <a:avLst/>
              <a:gdLst/>
              <a:ahLst/>
              <a:cxnLst/>
              <a:rect r="r" b="b" t="t" l="l"/>
              <a:pathLst>
                <a:path h="330200" w="952500">
                  <a:moveTo>
                    <a:pt x="787400" y="0"/>
                  </a:moveTo>
                  <a:cubicBezTo>
                    <a:pt x="878582" y="0"/>
                    <a:pt x="952500" y="73918"/>
                    <a:pt x="952500" y="165100"/>
                  </a:cubicBezTo>
                  <a:cubicBezTo>
                    <a:pt x="952500" y="256282"/>
                    <a:pt x="878582" y="330200"/>
                    <a:pt x="7874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E05252">
                <a:alpha val="14902"/>
              </a:srgbClr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9525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5476875" y="3000375"/>
            <a:ext cx="71437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E05252"/>
                </a:solidFill>
                <a:latin typeface="Inter"/>
                <a:ea typeface="Inter"/>
                <a:cs typeface="Inter"/>
                <a:sym typeface="Inter"/>
              </a:rPr>
              <a:t>High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6629400" y="2990850"/>
            <a:ext cx="1238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Zarnab A.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7962900" y="2990850"/>
            <a:ext cx="762000" cy="247650"/>
            <a:chOff x="0" y="0"/>
            <a:chExt cx="1016000" cy="3302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16000" cy="330200"/>
            </a:xfrm>
            <a:custGeom>
              <a:avLst/>
              <a:gdLst/>
              <a:ahLst/>
              <a:cxnLst/>
              <a:rect r="r" b="b" t="t" l="l"/>
              <a:pathLst>
                <a:path h="330200" w="1016000">
                  <a:moveTo>
                    <a:pt x="850900" y="0"/>
                  </a:moveTo>
                  <a:cubicBezTo>
                    <a:pt x="942082" y="0"/>
                    <a:pt x="1016000" y="73918"/>
                    <a:pt x="1016000" y="165100"/>
                  </a:cubicBezTo>
                  <a:cubicBezTo>
                    <a:pt x="1016000" y="256282"/>
                    <a:pt x="942082" y="330200"/>
                    <a:pt x="850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E05252">
                <a:alpha val="14902"/>
              </a:srgbClr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10160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7962900" y="3000375"/>
            <a:ext cx="762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E05252"/>
                </a:solidFill>
                <a:latin typeface="Inter"/>
                <a:ea typeface="Inter"/>
                <a:cs typeface="Inter"/>
                <a:sym typeface="Inter"/>
              </a:rPr>
              <a:t>Open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9201150" y="2990850"/>
            <a:ext cx="952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0FA3A3"/>
                </a:solidFill>
                <a:latin typeface="Inter"/>
                <a:ea typeface="Inter"/>
                <a:cs typeface="Inter"/>
                <a:sym typeface="Inter"/>
              </a:rPr>
              <a:t>Resolve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2819400" y="3448050"/>
            <a:ext cx="1047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BT-005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3962400" y="3448050"/>
            <a:ext cx="1428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Cell swelling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5486400" y="3448050"/>
            <a:ext cx="714375" cy="247650"/>
            <a:chOff x="0" y="0"/>
            <a:chExt cx="952500" cy="3302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52500" cy="330200"/>
            </a:xfrm>
            <a:custGeom>
              <a:avLst/>
              <a:gdLst/>
              <a:ahLst/>
              <a:cxnLst/>
              <a:rect r="r" b="b" t="t" l="l"/>
              <a:pathLst>
                <a:path h="330200" w="952500">
                  <a:moveTo>
                    <a:pt x="787400" y="0"/>
                  </a:moveTo>
                  <a:cubicBezTo>
                    <a:pt x="878582" y="0"/>
                    <a:pt x="952500" y="73918"/>
                    <a:pt x="952500" y="165100"/>
                  </a:cubicBezTo>
                  <a:cubicBezTo>
                    <a:pt x="952500" y="256282"/>
                    <a:pt x="878582" y="330200"/>
                    <a:pt x="7874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E05252">
                <a:alpha val="14902"/>
              </a:srgbClr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9525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5" id="95"/>
          <p:cNvSpPr txBox="true"/>
          <p:nvPr/>
        </p:nvSpPr>
        <p:spPr>
          <a:xfrm rot="0">
            <a:off x="5476875" y="3457575"/>
            <a:ext cx="71437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E05252"/>
                </a:solidFill>
                <a:latin typeface="Inter"/>
                <a:ea typeface="Inter"/>
                <a:cs typeface="Inter"/>
                <a:sym typeface="Inter"/>
              </a:rPr>
              <a:t>High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6629400" y="3448050"/>
            <a:ext cx="1238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System (auto)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7962900" y="3448050"/>
            <a:ext cx="762000" cy="247650"/>
            <a:chOff x="0" y="0"/>
            <a:chExt cx="1016000" cy="3302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16000" cy="330200"/>
            </a:xfrm>
            <a:custGeom>
              <a:avLst/>
              <a:gdLst/>
              <a:ahLst/>
              <a:cxnLst/>
              <a:rect r="r" b="b" t="t" l="l"/>
              <a:pathLst>
                <a:path h="330200" w="1016000">
                  <a:moveTo>
                    <a:pt x="850900" y="0"/>
                  </a:moveTo>
                  <a:cubicBezTo>
                    <a:pt x="942082" y="0"/>
                    <a:pt x="1016000" y="73918"/>
                    <a:pt x="1016000" y="165100"/>
                  </a:cubicBezTo>
                  <a:cubicBezTo>
                    <a:pt x="1016000" y="256282"/>
                    <a:pt x="942082" y="330200"/>
                    <a:pt x="850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22C55E">
                <a:alpha val="14902"/>
              </a:srgbClr>
            </a:solid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10160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7962900" y="3457575"/>
            <a:ext cx="762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Resolved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9201150" y="3448050"/>
            <a:ext cx="952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2819400" y="4305300"/>
            <a:ext cx="2857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1A2B3C"/>
                </a:solidFill>
                <a:latin typeface="Inter Bold"/>
                <a:ea typeface="Inter Bold"/>
                <a:cs typeface="Inter Bold"/>
                <a:sym typeface="Inter Bold"/>
              </a:rPr>
              <a:t>Resolve Issue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2819400" y="4657725"/>
            <a:ext cx="50673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Repair action taken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2819400" y="4876800"/>
            <a:ext cx="5067300" cy="361950"/>
            <a:chOff x="0" y="0"/>
            <a:chExt cx="6756400" cy="4826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756400" cy="482600"/>
            </a:xfrm>
            <a:custGeom>
              <a:avLst/>
              <a:gdLst/>
              <a:ahLst/>
              <a:cxnLst/>
              <a:rect r="r" b="b" t="t" l="l"/>
              <a:pathLst>
                <a:path h="482600" w="6756400">
                  <a:moveTo>
                    <a:pt x="48260" y="0"/>
                  </a:moveTo>
                  <a:lnTo>
                    <a:pt x="6708140" y="0"/>
                  </a:lnTo>
                  <a:cubicBezTo>
                    <a:pt x="6734794" y="0"/>
                    <a:pt x="6756400" y="21607"/>
                    <a:pt x="6756400" y="48260"/>
                  </a:cubicBezTo>
                  <a:lnTo>
                    <a:pt x="6756400" y="434340"/>
                  </a:lnTo>
                  <a:cubicBezTo>
                    <a:pt x="6756400" y="460993"/>
                    <a:pt x="6734794" y="482600"/>
                    <a:pt x="6708140" y="482600"/>
                  </a:cubicBezTo>
                  <a:lnTo>
                    <a:pt x="48260" y="482600"/>
                  </a:lnTo>
                  <a:cubicBezTo>
                    <a:pt x="21607" y="482600"/>
                    <a:pt x="0" y="460993"/>
                    <a:pt x="0" y="434340"/>
                  </a:cubicBezTo>
                  <a:lnTo>
                    <a:pt x="0" y="48260"/>
                  </a:lnTo>
                  <a:cubicBezTo>
                    <a:pt x="0" y="21607"/>
                    <a:pt x="21607" y="0"/>
                    <a:pt x="4826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67564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7" id="107"/>
          <p:cNvSpPr txBox="true"/>
          <p:nvPr/>
        </p:nvSpPr>
        <p:spPr>
          <a:xfrm rot="0">
            <a:off x="2933700" y="4924425"/>
            <a:ext cx="48387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Describe repair performed...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2819400" y="5495925"/>
            <a:ext cx="50673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Inspection outcome</a:t>
            </a:r>
          </a:p>
        </p:txBody>
      </p:sp>
      <p:grpSp>
        <p:nvGrpSpPr>
          <p:cNvPr name="Group 109" id="109"/>
          <p:cNvGrpSpPr/>
          <p:nvPr/>
        </p:nvGrpSpPr>
        <p:grpSpPr>
          <a:xfrm rot="0">
            <a:off x="2819400" y="5720080"/>
            <a:ext cx="5067300" cy="361950"/>
            <a:chOff x="0" y="0"/>
            <a:chExt cx="6756400" cy="4826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756400" cy="482600"/>
            </a:xfrm>
            <a:custGeom>
              <a:avLst/>
              <a:gdLst/>
              <a:ahLst/>
              <a:cxnLst/>
              <a:rect r="r" b="b" t="t" l="l"/>
              <a:pathLst>
                <a:path h="482600" w="6756400">
                  <a:moveTo>
                    <a:pt x="48260" y="0"/>
                  </a:moveTo>
                  <a:lnTo>
                    <a:pt x="6708140" y="0"/>
                  </a:lnTo>
                  <a:cubicBezTo>
                    <a:pt x="6734794" y="0"/>
                    <a:pt x="6756400" y="21607"/>
                    <a:pt x="6756400" y="48260"/>
                  </a:cubicBezTo>
                  <a:lnTo>
                    <a:pt x="6756400" y="434340"/>
                  </a:lnTo>
                  <a:cubicBezTo>
                    <a:pt x="6756400" y="460993"/>
                    <a:pt x="6734794" y="482600"/>
                    <a:pt x="6708140" y="482600"/>
                  </a:cubicBezTo>
                  <a:lnTo>
                    <a:pt x="48260" y="482600"/>
                  </a:lnTo>
                  <a:cubicBezTo>
                    <a:pt x="21607" y="482600"/>
                    <a:pt x="0" y="460993"/>
                    <a:pt x="0" y="434340"/>
                  </a:cubicBezTo>
                  <a:lnTo>
                    <a:pt x="0" y="48260"/>
                  </a:lnTo>
                  <a:cubicBezTo>
                    <a:pt x="0" y="21607"/>
                    <a:pt x="21607" y="0"/>
                    <a:pt x="4826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67564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2" id="112"/>
          <p:cNvSpPr txBox="true"/>
          <p:nvPr/>
        </p:nvSpPr>
        <p:spPr>
          <a:xfrm rot="0">
            <a:off x="2933700" y="5729605"/>
            <a:ext cx="48387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Passed / Failed — reopen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8115300" y="4657725"/>
            <a:ext cx="50673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Next maintenance due date</a:t>
            </a:r>
          </a:p>
        </p:txBody>
      </p:sp>
      <p:grpSp>
        <p:nvGrpSpPr>
          <p:cNvPr name="Group 114" id="114"/>
          <p:cNvGrpSpPr/>
          <p:nvPr/>
        </p:nvGrpSpPr>
        <p:grpSpPr>
          <a:xfrm rot="0">
            <a:off x="8115300" y="4876800"/>
            <a:ext cx="5067300" cy="361950"/>
            <a:chOff x="0" y="0"/>
            <a:chExt cx="6756400" cy="4826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756400" cy="482600"/>
            </a:xfrm>
            <a:custGeom>
              <a:avLst/>
              <a:gdLst/>
              <a:ahLst/>
              <a:cxnLst/>
              <a:rect r="r" b="b" t="t" l="l"/>
              <a:pathLst>
                <a:path h="482600" w="6756400">
                  <a:moveTo>
                    <a:pt x="48260" y="0"/>
                  </a:moveTo>
                  <a:lnTo>
                    <a:pt x="6708140" y="0"/>
                  </a:lnTo>
                  <a:cubicBezTo>
                    <a:pt x="6734794" y="0"/>
                    <a:pt x="6756400" y="21607"/>
                    <a:pt x="6756400" y="48260"/>
                  </a:cubicBezTo>
                  <a:lnTo>
                    <a:pt x="6756400" y="434340"/>
                  </a:lnTo>
                  <a:cubicBezTo>
                    <a:pt x="6756400" y="460993"/>
                    <a:pt x="6734794" y="482600"/>
                    <a:pt x="6708140" y="482600"/>
                  </a:cubicBezTo>
                  <a:lnTo>
                    <a:pt x="48260" y="482600"/>
                  </a:lnTo>
                  <a:cubicBezTo>
                    <a:pt x="21607" y="482600"/>
                    <a:pt x="0" y="460993"/>
                    <a:pt x="0" y="434340"/>
                  </a:cubicBezTo>
                  <a:lnTo>
                    <a:pt x="0" y="48260"/>
                  </a:lnTo>
                  <a:cubicBezTo>
                    <a:pt x="0" y="21607"/>
                    <a:pt x="21607" y="0"/>
                    <a:pt x="4826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67564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7" id="117"/>
          <p:cNvSpPr txBox="true"/>
          <p:nvPr/>
        </p:nvSpPr>
        <p:spPr>
          <a:xfrm rot="0">
            <a:off x="8229600" y="4924425"/>
            <a:ext cx="48387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Select date...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8115300" y="5495925"/>
            <a:ext cx="50673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Closure remarks</a:t>
            </a:r>
          </a:p>
        </p:txBody>
      </p:sp>
      <p:grpSp>
        <p:nvGrpSpPr>
          <p:cNvPr name="Group 119" id="119"/>
          <p:cNvGrpSpPr/>
          <p:nvPr/>
        </p:nvGrpSpPr>
        <p:grpSpPr>
          <a:xfrm rot="0">
            <a:off x="8115300" y="5720080"/>
            <a:ext cx="5067300" cy="361950"/>
            <a:chOff x="0" y="0"/>
            <a:chExt cx="6756400" cy="4826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756400" cy="482600"/>
            </a:xfrm>
            <a:custGeom>
              <a:avLst/>
              <a:gdLst/>
              <a:ahLst/>
              <a:cxnLst/>
              <a:rect r="r" b="b" t="t" l="l"/>
              <a:pathLst>
                <a:path h="482600" w="6756400">
                  <a:moveTo>
                    <a:pt x="48260" y="0"/>
                  </a:moveTo>
                  <a:lnTo>
                    <a:pt x="6708140" y="0"/>
                  </a:lnTo>
                  <a:cubicBezTo>
                    <a:pt x="6734794" y="0"/>
                    <a:pt x="6756400" y="21607"/>
                    <a:pt x="6756400" y="48260"/>
                  </a:cubicBezTo>
                  <a:lnTo>
                    <a:pt x="6756400" y="434340"/>
                  </a:lnTo>
                  <a:cubicBezTo>
                    <a:pt x="6756400" y="460993"/>
                    <a:pt x="6734794" y="482600"/>
                    <a:pt x="6708140" y="482600"/>
                  </a:cubicBezTo>
                  <a:lnTo>
                    <a:pt x="48260" y="482600"/>
                  </a:lnTo>
                  <a:cubicBezTo>
                    <a:pt x="21607" y="482600"/>
                    <a:pt x="0" y="460993"/>
                    <a:pt x="0" y="434340"/>
                  </a:cubicBezTo>
                  <a:lnTo>
                    <a:pt x="0" y="48260"/>
                  </a:lnTo>
                  <a:cubicBezTo>
                    <a:pt x="0" y="21607"/>
                    <a:pt x="21607" y="0"/>
                    <a:pt x="4826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67564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2" id="122"/>
          <p:cNvSpPr txBox="true"/>
          <p:nvPr/>
        </p:nvSpPr>
        <p:spPr>
          <a:xfrm rot="0">
            <a:off x="8229600" y="5729605"/>
            <a:ext cx="48387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Any additional notes...</a:t>
            </a:r>
          </a:p>
        </p:txBody>
      </p:sp>
      <p:grpSp>
        <p:nvGrpSpPr>
          <p:cNvPr name="Group 123" id="123"/>
          <p:cNvGrpSpPr/>
          <p:nvPr/>
        </p:nvGrpSpPr>
        <p:grpSpPr>
          <a:xfrm rot="0">
            <a:off x="2819400" y="6272530"/>
            <a:ext cx="1524000" cy="457200"/>
            <a:chOff x="0" y="0"/>
            <a:chExt cx="2032000" cy="60960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03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2032000">
                  <a:moveTo>
                    <a:pt x="50800" y="0"/>
                  </a:moveTo>
                  <a:lnTo>
                    <a:pt x="1981200" y="0"/>
                  </a:lnTo>
                  <a:cubicBezTo>
                    <a:pt x="2009256" y="0"/>
                    <a:pt x="2032000" y="27293"/>
                    <a:pt x="2032000" y="60960"/>
                  </a:cubicBezTo>
                  <a:lnTo>
                    <a:pt x="2032000" y="548640"/>
                  </a:lnTo>
                  <a:cubicBezTo>
                    <a:pt x="2032000" y="582307"/>
                    <a:pt x="2009256" y="609600"/>
                    <a:pt x="1981200" y="609600"/>
                  </a:cubicBezTo>
                  <a:lnTo>
                    <a:pt x="50800" y="609600"/>
                  </a:lnTo>
                  <a:cubicBezTo>
                    <a:pt x="22744" y="609600"/>
                    <a:pt x="0" y="582307"/>
                    <a:pt x="0" y="548640"/>
                  </a:cubicBezTo>
                  <a:lnTo>
                    <a:pt x="0" y="60960"/>
                  </a:lnTo>
                  <a:cubicBezTo>
                    <a:pt x="0" y="27293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20320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6" id="126"/>
          <p:cNvSpPr txBox="true"/>
          <p:nvPr/>
        </p:nvSpPr>
        <p:spPr>
          <a:xfrm rot="0">
            <a:off x="2819400" y="6366510"/>
            <a:ext cx="1524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Mark Resolved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819400" y="5562600"/>
            <a:ext cx="10363200" cy="0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590800" y="4572000"/>
            <a:ext cx="10820400" cy="1428750"/>
            <a:chOff x="0" y="0"/>
            <a:chExt cx="144272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4272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4427200">
                  <a:moveTo>
                    <a:pt x="190500" y="0"/>
                  </a:moveTo>
                  <a:lnTo>
                    <a:pt x="14236700" y="0"/>
                  </a:lnTo>
                  <a:cubicBezTo>
                    <a:pt x="14341911" y="0"/>
                    <a:pt x="14427200" y="85290"/>
                    <a:pt x="14427200" y="190500"/>
                  </a:cubicBezTo>
                  <a:lnTo>
                    <a:pt x="14427200" y="1714500"/>
                  </a:lnTo>
                  <a:cubicBezTo>
                    <a:pt x="14427200" y="1819710"/>
                    <a:pt x="14341911" y="1905000"/>
                    <a:pt x="142367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4272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590800" y="1343025"/>
            <a:ext cx="10820400" cy="2667000"/>
            <a:chOff x="0" y="0"/>
            <a:chExt cx="14427200" cy="355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272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14427200">
                  <a:moveTo>
                    <a:pt x="355600" y="0"/>
                  </a:moveTo>
                  <a:lnTo>
                    <a:pt x="14071600" y="0"/>
                  </a:lnTo>
                  <a:cubicBezTo>
                    <a:pt x="14267993" y="0"/>
                    <a:pt x="14427200" y="159208"/>
                    <a:pt x="14427200" y="355600"/>
                  </a:cubicBezTo>
                  <a:lnTo>
                    <a:pt x="14427200" y="3200400"/>
                  </a:lnTo>
                  <a:cubicBezTo>
                    <a:pt x="14427200" y="3396792"/>
                    <a:pt x="14267993" y="3556000"/>
                    <a:pt x="140716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4272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200" y="3619500"/>
            <a:ext cx="2133600" cy="323850"/>
            <a:chOff x="0" y="0"/>
            <a:chExt cx="2844800" cy="431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4800" cy="431800"/>
            </a:xfrm>
            <a:custGeom>
              <a:avLst/>
              <a:gdLst/>
              <a:ahLst/>
              <a:cxnLst/>
              <a:rect r="r" b="b" t="t" l="l"/>
              <a:pathLst>
                <a:path h="431800" w="2844800">
                  <a:moveTo>
                    <a:pt x="43180" y="0"/>
                  </a:moveTo>
                  <a:lnTo>
                    <a:pt x="2801620" y="0"/>
                  </a:lnTo>
                  <a:cubicBezTo>
                    <a:pt x="2825468" y="0"/>
                    <a:pt x="2844800" y="19332"/>
                    <a:pt x="2844800" y="43180"/>
                  </a:cubicBezTo>
                  <a:lnTo>
                    <a:pt x="2844800" y="388620"/>
                  </a:lnTo>
                  <a:cubicBezTo>
                    <a:pt x="2844800" y="412468"/>
                    <a:pt x="2825468" y="431800"/>
                    <a:pt x="2801620" y="431800"/>
                  </a:cubicBezTo>
                  <a:lnTo>
                    <a:pt x="43180" y="431800"/>
                  </a:lnTo>
                  <a:cubicBezTo>
                    <a:pt x="19332" y="431800"/>
                    <a:pt x="0" y="412468"/>
                    <a:pt x="0" y="388620"/>
                  </a:cubicBezTo>
                  <a:lnTo>
                    <a:pt x="0" y="43180"/>
                  </a:lnTo>
                  <a:cubicBezTo>
                    <a:pt x="0" y="19332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1A2F4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844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2286000" cy="9753600"/>
            <a:chOff x="0" y="0"/>
            <a:chExt cx="3048000" cy="13004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4800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3004800"/>
                  </a:lnTo>
                  <a:lnTo>
                    <a:pt x="0" y="13004800"/>
                  </a:lnTo>
                  <a:close/>
                </a:path>
              </a:pathLst>
            </a:custGeom>
            <a:solidFill>
              <a:srgbClr val="0A1A2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048000" cy="130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57200" y="152400"/>
            <a:ext cx="19050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Aero</a:t>
            </a:r>
            <a:r>
              <a:rPr lang="en-US" sz="2400" strike="noStrike" u="none">
                <a:solidFill>
                  <a:srgbClr val="0FA3A3"/>
                </a:solidFill>
                <a:latin typeface="DIN Next"/>
                <a:ea typeface="DIN Next"/>
                <a:cs typeface="DIN Next"/>
                <a:sym typeface="DIN Next"/>
              </a:rPr>
              <a:t>Ready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8150" y="10858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8150" y="14478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Drones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8150" y="18097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Batteries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8150" y="21717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Missions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8150" y="25336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Checklists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8150" y="28956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Risk &amp; Approval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8150" y="32575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Maintenance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8150" y="36195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Reports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8150" y="39814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Traceability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38150" y="43434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Users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8150" y="47053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Settings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286000" y="0"/>
            <a:ext cx="11430000" cy="609600"/>
            <a:chOff x="0" y="0"/>
            <a:chExt cx="152400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240000" cy="812800"/>
            </a:xfrm>
            <a:custGeom>
              <a:avLst/>
              <a:gdLst/>
              <a:ahLst/>
              <a:cxnLst/>
              <a:rect r="r" b="b" t="t" l="l"/>
              <a:pathLst>
                <a:path h="8128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52400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144500" y="133350"/>
            <a:ext cx="342900" cy="342900"/>
            <a:chOff x="0" y="0"/>
            <a:chExt cx="457200" cy="457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D1D9E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28600" y="11144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▣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28600" y="14763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✈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28600" y="18383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⚡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8600" y="22002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◎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28600" y="25622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☑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8600" y="29241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⚠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28600" y="32861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8600" y="36480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▤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28600" y="40100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⛓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28600" y="43719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👤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28600" y="47339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144500" y="180975"/>
            <a:ext cx="3429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JD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590800" y="733425"/>
            <a:ext cx="38100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A2B3C"/>
                </a:solidFill>
                <a:latin typeface="DIN Next Bold"/>
                <a:ea typeface="DIN Next Bold"/>
                <a:cs typeface="DIN Next Bold"/>
                <a:sym typeface="DIN Next Bold"/>
              </a:rPr>
              <a:t>Generate Report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819400" y="1495425"/>
            <a:ext cx="50673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Report type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2819400" y="1714500"/>
            <a:ext cx="5067300" cy="361950"/>
            <a:chOff x="0" y="0"/>
            <a:chExt cx="6756400" cy="482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756400" cy="482600"/>
            </a:xfrm>
            <a:custGeom>
              <a:avLst/>
              <a:gdLst/>
              <a:ahLst/>
              <a:cxnLst/>
              <a:rect r="r" b="b" t="t" l="l"/>
              <a:pathLst>
                <a:path h="482600" w="6756400">
                  <a:moveTo>
                    <a:pt x="48260" y="0"/>
                  </a:moveTo>
                  <a:lnTo>
                    <a:pt x="6708140" y="0"/>
                  </a:lnTo>
                  <a:cubicBezTo>
                    <a:pt x="6734794" y="0"/>
                    <a:pt x="6756400" y="21607"/>
                    <a:pt x="6756400" y="48260"/>
                  </a:cubicBezTo>
                  <a:lnTo>
                    <a:pt x="6756400" y="434340"/>
                  </a:lnTo>
                  <a:cubicBezTo>
                    <a:pt x="6756400" y="460993"/>
                    <a:pt x="6734794" y="482600"/>
                    <a:pt x="6708140" y="482600"/>
                  </a:cubicBezTo>
                  <a:lnTo>
                    <a:pt x="48260" y="482600"/>
                  </a:lnTo>
                  <a:cubicBezTo>
                    <a:pt x="21607" y="482600"/>
                    <a:pt x="0" y="460993"/>
                    <a:pt x="0" y="434340"/>
                  </a:cubicBezTo>
                  <a:lnTo>
                    <a:pt x="0" y="48260"/>
                  </a:lnTo>
                  <a:cubicBezTo>
                    <a:pt x="0" y="21607"/>
                    <a:pt x="21607" y="0"/>
                    <a:pt x="4826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7564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0" id="50"/>
          <p:cNvSpPr/>
          <p:nvPr/>
        </p:nvSpPr>
        <p:spPr>
          <a:xfrm>
            <a:off x="228600" y="628650"/>
            <a:ext cx="533400" cy="0"/>
          </a:xfrm>
          <a:prstGeom prst="line">
            <a:avLst/>
          </a:prstGeom>
          <a:ln cap="rnd" w="19050">
            <a:solidFill>
              <a:srgbClr val="0F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1" id="51"/>
          <p:cNvSpPr txBox="true"/>
          <p:nvPr/>
        </p:nvSpPr>
        <p:spPr>
          <a:xfrm rot="0">
            <a:off x="2933700" y="1762125"/>
            <a:ext cx="48387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Mission Readiness Report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228600" y="323850"/>
            <a:ext cx="171450" cy="171450"/>
            <a:chOff x="0" y="0"/>
            <a:chExt cx="228600" cy="228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2819400" y="2205990"/>
            <a:ext cx="50673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Mission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2819400" y="2430145"/>
            <a:ext cx="5067300" cy="361950"/>
            <a:chOff x="0" y="0"/>
            <a:chExt cx="6756400" cy="482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756400" cy="482600"/>
            </a:xfrm>
            <a:custGeom>
              <a:avLst/>
              <a:gdLst/>
              <a:ahLst/>
              <a:cxnLst/>
              <a:rect r="r" b="b" t="t" l="l"/>
              <a:pathLst>
                <a:path h="482600" w="6756400">
                  <a:moveTo>
                    <a:pt x="48260" y="0"/>
                  </a:moveTo>
                  <a:lnTo>
                    <a:pt x="6708140" y="0"/>
                  </a:lnTo>
                  <a:cubicBezTo>
                    <a:pt x="6734794" y="0"/>
                    <a:pt x="6756400" y="21607"/>
                    <a:pt x="6756400" y="48260"/>
                  </a:cubicBezTo>
                  <a:lnTo>
                    <a:pt x="6756400" y="434340"/>
                  </a:lnTo>
                  <a:cubicBezTo>
                    <a:pt x="6756400" y="460993"/>
                    <a:pt x="6734794" y="482600"/>
                    <a:pt x="6708140" y="482600"/>
                  </a:cubicBezTo>
                  <a:lnTo>
                    <a:pt x="48260" y="482600"/>
                  </a:lnTo>
                  <a:cubicBezTo>
                    <a:pt x="21607" y="482600"/>
                    <a:pt x="0" y="460993"/>
                    <a:pt x="0" y="434340"/>
                  </a:cubicBezTo>
                  <a:lnTo>
                    <a:pt x="0" y="48260"/>
                  </a:lnTo>
                  <a:cubicBezTo>
                    <a:pt x="0" y="21607"/>
                    <a:pt x="21607" y="0"/>
                    <a:pt x="4826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7564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2933700" y="2484755"/>
            <a:ext cx="48387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Select mission...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115300" y="1495425"/>
            <a:ext cx="50673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Date range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8115300" y="1714500"/>
            <a:ext cx="5067300" cy="361950"/>
            <a:chOff x="0" y="0"/>
            <a:chExt cx="6756400" cy="482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756400" cy="482600"/>
            </a:xfrm>
            <a:custGeom>
              <a:avLst/>
              <a:gdLst/>
              <a:ahLst/>
              <a:cxnLst/>
              <a:rect r="r" b="b" t="t" l="l"/>
              <a:pathLst>
                <a:path h="482600" w="6756400">
                  <a:moveTo>
                    <a:pt x="48260" y="0"/>
                  </a:moveTo>
                  <a:lnTo>
                    <a:pt x="6708140" y="0"/>
                  </a:lnTo>
                  <a:cubicBezTo>
                    <a:pt x="6734794" y="0"/>
                    <a:pt x="6756400" y="21607"/>
                    <a:pt x="6756400" y="48260"/>
                  </a:cubicBezTo>
                  <a:lnTo>
                    <a:pt x="6756400" y="434340"/>
                  </a:lnTo>
                  <a:cubicBezTo>
                    <a:pt x="6756400" y="460993"/>
                    <a:pt x="6734794" y="482600"/>
                    <a:pt x="6708140" y="482600"/>
                  </a:cubicBezTo>
                  <a:lnTo>
                    <a:pt x="48260" y="482600"/>
                  </a:lnTo>
                  <a:cubicBezTo>
                    <a:pt x="21607" y="482600"/>
                    <a:pt x="0" y="460993"/>
                    <a:pt x="0" y="434340"/>
                  </a:cubicBezTo>
                  <a:lnTo>
                    <a:pt x="0" y="48260"/>
                  </a:lnTo>
                  <a:cubicBezTo>
                    <a:pt x="0" y="21607"/>
                    <a:pt x="21607" y="0"/>
                    <a:pt x="4826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67564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8229600" y="1762125"/>
            <a:ext cx="48387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Select date range...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8115300" y="2205990"/>
            <a:ext cx="50673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Export format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8115300" y="2430145"/>
            <a:ext cx="5067300" cy="361950"/>
            <a:chOff x="0" y="0"/>
            <a:chExt cx="6756400" cy="482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756400" cy="482600"/>
            </a:xfrm>
            <a:custGeom>
              <a:avLst/>
              <a:gdLst/>
              <a:ahLst/>
              <a:cxnLst/>
              <a:rect r="r" b="b" t="t" l="l"/>
              <a:pathLst>
                <a:path h="482600" w="6756400">
                  <a:moveTo>
                    <a:pt x="48260" y="0"/>
                  </a:moveTo>
                  <a:lnTo>
                    <a:pt x="6708140" y="0"/>
                  </a:lnTo>
                  <a:cubicBezTo>
                    <a:pt x="6734794" y="0"/>
                    <a:pt x="6756400" y="21607"/>
                    <a:pt x="6756400" y="48260"/>
                  </a:cubicBezTo>
                  <a:lnTo>
                    <a:pt x="6756400" y="434340"/>
                  </a:lnTo>
                  <a:cubicBezTo>
                    <a:pt x="6756400" y="460993"/>
                    <a:pt x="6734794" y="482600"/>
                    <a:pt x="6708140" y="482600"/>
                  </a:cubicBezTo>
                  <a:lnTo>
                    <a:pt x="48260" y="482600"/>
                  </a:lnTo>
                  <a:cubicBezTo>
                    <a:pt x="21607" y="482600"/>
                    <a:pt x="0" y="460993"/>
                    <a:pt x="0" y="434340"/>
                  </a:cubicBezTo>
                  <a:lnTo>
                    <a:pt x="0" y="48260"/>
                  </a:lnTo>
                  <a:cubicBezTo>
                    <a:pt x="0" y="21607"/>
                    <a:pt x="21607" y="0"/>
                    <a:pt x="4826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67564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8229600" y="2484755"/>
            <a:ext cx="48387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PDF / Printable view / CSV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2819400" y="2973070"/>
            <a:ext cx="1619250" cy="457200"/>
            <a:chOff x="0" y="0"/>
            <a:chExt cx="2159000" cy="6096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590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59000">
                  <a:moveTo>
                    <a:pt x="50800" y="0"/>
                  </a:moveTo>
                  <a:lnTo>
                    <a:pt x="2108200" y="0"/>
                  </a:lnTo>
                  <a:cubicBezTo>
                    <a:pt x="2136256" y="0"/>
                    <a:pt x="2159000" y="27293"/>
                    <a:pt x="2159000" y="60960"/>
                  </a:cubicBezTo>
                  <a:lnTo>
                    <a:pt x="2159000" y="548640"/>
                  </a:lnTo>
                  <a:cubicBezTo>
                    <a:pt x="2159000" y="582307"/>
                    <a:pt x="2136256" y="609600"/>
                    <a:pt x="2108200" y="609600"/>
                  </a:cubicBezTo>
                  <a:lnTo>
                    <a:pt x="50800" y="609600"/>
                  </a:lnTo>
                  <a:cubicBezTo>
                    <a:pt x="22744" y="609600"/>
                    <a:pt x="0" y="582307"/>
                    <a:pt x="0" y="548640"/>
                  </a:cubicBezTo>
                  <a:lnTo>
                    <a:pt x="0" y="60960"/>
                  </a:lnTo>
                  <a:cubicBezTo>
                    <a:pt x="0" y="27293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21590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2819400" y="3067050"/>
            <a:ext cx="1619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Generate &amp; Export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590800" y="4191000"/>
            <a:ext cx="2857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1A2B3C"/>
                </a:solidFill>
                <a:latin typeface="Inter Bold"/>
                <a:ea typeface="Inter Bold"/>
                <a:cs typeface="Inter Bold"/>
                <a:sym typeface="Inter Bold"/>
              </a:rPr>
              <a:t>Generated reports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819400" y="4733925"/>
            <a:ext cx="4667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Report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7581900" y="4733925"/>
            <a:ext cx="857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Format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8534400" y="4733925"/>
            <a:ext cx="1428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Generated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058400" y="4733925"/>
            <a:ext cx="1428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By</a:t>
            </a:r>
          </a:p>
        </p:txBody>
      </p:sp>
      <p:sp>
        <p:nvSpPr>
          <p:cNvPr name="AutoShape 79" id="79"/>
          <p:cNvSpPr/>
          <p:nvPr/>
        </p:nvSpPr>
        <p:spPr>
          <a:xfrm>
            <a:off x="2819400" y="5029200"/>
            <a:ext cx="10363200" cy="0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0" id="80"/>
          <p:cNvSpPr txBox="true"/>
          <p:nvPr/>
        </p:nvSpPr>
        <p:spPr>
          <a:xfrm rot="0">
            <a:off x="2819400" y="5181600"/>
            <a:ext cx="4667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Runway Inspection — Readiness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581900" y="5181600"/>
            <a:ext cx="857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PDF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8534400" y="5181600"/>
            <a:ext cx="1428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12 Jul, 16:02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0058400" y="5181600"/>
            <a:ext cx="1428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Zarnab A.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2819400" y="5600700"/>
            <a:ext cx="4667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Fleet Battery Health — Q3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7581900" y="5600700"/>
            <a:ext cx="857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CSV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8534400" y="5600700"/>
            <a:ext cx="1428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10 Jul, 09:40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0058400" y="5600700"/>
            <a:ext cx="1428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H. Raza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819400" y="3095625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2819400" y="259080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590800" y="1447800"/>
            <a:ext cx="10820400" cy="2667000"/>
            <a:chOff x="0" y="0"/>
            <a:chExt cx="14427200" cy="355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4272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14427200">
                  <a:moveTo>
                    <a:pt x="292100" y="0"/>
                  </a:moveTo>
                  <a:lnTo>
                    <a:pt x="14135100" y="0"/>
                  </a:lnTo>
                  <a:cubicBezTo>
                    <a:pt x="14296422" y="0"/>
                    <a:pt x="14427200" y="159208"/>
                    <a:pt x="14427200" y="355600"/>
                  </a:cubicBezTo>
                  <a:lnTo>
                    <a:pt x="14427200" y="3200400"/>
                  </a:lnTo>
                  <a:cubicBezTo>
                    <a:pt x="14427200" y="3396792"/>
                    <a:pt x="14296422" y="3556000"/>
                    <a:pt x="14135100" y="3556000"/>
                  </a:cubicBezTo>
                  <a:lnTo>
                    <a:pt x="292100" y="3556000"/>
                  </a:lnTo>
                  <a:cubicBezTo>
                    <a:pt x="13077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30778" y="0"/>
                    <a:pt x="2921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4272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6200" y="3981450"/>
            <a:ext cx="2133600" cy="323850"/>
            <a:chOff x="0" y="0"/>
            <a:chExt cx="2844800" cy="431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4800" cy="431800"/>
            </a:xfrm>
            <a:custGeom>
              <a:avLst/>
              <a:gdLst/>
              <a:ahLst/>
              <a:cxnLst/>
              <a:rect r="r" b="b" t="t" l="l"/>
              <a:pathLst>
                <a:path h="431800" w="2844800">
                  <a:moveTo>
                    <a:pt x="43180" y="0"/>
                  </a:moveTo>
                  <a:lnTo>
                    <a:pt x="2801620" y="0"/>
                  </a:lnTo>
                  <a:cubicBezTo>
                    <a:pt x="2825468" y="0"/>
                    <a:pt x="2844800" y="19332"/>
                    <a:pt x="2844800" y="43180"/>
                  </a:cubicBezTo>
                  <a:lnTo>
                    <a:pt x="2844800" y="388620"/>
                  </a:lnTo>
                  <a:cubicBezTo>
                    <a:pt x="2844800" y="412468"/>
                    <a:pt x="2825468" y="431800"/>
                    <a:pt x="2801620" y="431800"/>
                  </a:cubicBezTo>
                  <a:lnTo>
                    <a:pt x="43180" y="431800"/>
                  </a:lnTo>
                  <a:cubicBezTo>
                    <a:pt x="19332" y="431800"/>
                    <a:pt x="0" y="412468"/>
                    <a:pt x="0" y="388620"/>
                  </a:cubicBezTo>
                  <a:lnTo>
                    <a:pt x="0" y="43180"/>
                  </a:lnTo>
                  <a:cubicBezTo>
                    <a:pt x="0" y="19332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1A2F4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44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2286000" cy="9753600"/>
            <a:chOff x="0" y="0"/>
            <a:chExt cx="3048000" cy="13004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4800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3004800"/>
                  </a:lnTo>
                  <a:lnTo>
                    <a:pt x="0" y="13004800"/>
                  </a:lnTo>
                  <a:close/>
                </a:path>
              </a:pathLst>
            </a:custGeom>
            <a:solidFill>
              <a:srgbClr val="0A1A2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048000" cy="130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57200" y="142875"/>
            <a:ext cx="19050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Aero</a:t>
            </a:r>
            <a:r>
              <a:rPr lang="en-US" sz="2400" strike="noStrike" u="none">
                <a:solidFill>
                  <a:srgbClr val="0FA3A3"/>
                </a:solidFill>
                <a:latin typeface="DIN Next"/>
                <a:ea typeface="DIN Next"/>
                <a:cs typeface="DIN Next"/>
                <a:sym typeface="DIN Next"/>
              </a:rPr>
              <a:t>Ready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8150" y="10858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8150" y="14478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Drones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8150" y="18097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Batteries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8150" y="21717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Missions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8150" y="25336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Checklists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8150" y="28956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Risk &amp; Approval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8150" y="32575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Maintenance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8150" y="36195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Reports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8150" y="39814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Traceability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8150" y="43434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Users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8150" y="47053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Settings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28600" y="14763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✈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8600" y="18383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⚡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28600" y="22002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◎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28600" y="25622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☑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8600" y="29241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⚠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8600" y="32861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8600" y="36480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▤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28600" y="40100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⛓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28600" y="43719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👤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28600" y="47339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2286000" y="0"/>
            <a:ext cx="11430000" cy="609600"/>
            <a:chOff x="0" y="0"/>
            <a:chExt cx="152400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240000" cy="812800"/>
            </a:xfrm>
            <a:custGeom>
              <a:avLst/>
              <a:gdLst/>
              <a:ahLst/>
              <a:cxnLst/>
              <a:rect r="r" b="b" t="t" l="l"/>
              <a:pathLst>
                <a:path h="8128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52400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28600" y="11144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▣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3144500" y="133350"/>
            <a:ext cx="342900" cy="342900"/>
            <a:chOff x="0" y="0"/>
            <a:chExt cx="457200" cy="457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D1D9E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3144500" y="180975"/>
            <a:ext cx="3429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JD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590800" y="714375"/>
            <a:ext cx="6667500" cy="42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1A2B3C"/>
                </a:solidFill>
                <a:latin typeface="DIN Next Bold"/>
                <a:ea typeface="DIN Next Bold"/>
                <a:cs typeface="DIN Next Bold"/>
                <a:sym typeface="DIN Next Bold"/>
              </a:rPr>
              <a:t>Requirements Traceability Register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590800" y="1076325"/>
            <a:ext cx="47625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Read-only · updated weekly during supervisor review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19400" y="1609725"/>
            <a:ext cx="857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FR ID</a:t>
            </a:r>
          </a:p>
        </p:txBody>
      </p:sp>
      <p:sp>
        <p:nvSpPr>
          <p:cNvPr name="AutoShape 46" id="46"/>
          <p:cNvSpPr/>
          <p:nvPr/>
        </p:nvSpPr>
        <p:spPr>
          <a:xfrm>
            <a:off x="228600" y="628650"/>
            <a:ext cx="533400" cy="0"/>
          </a:xfrm>
          <a:prstGeom prst="line">
            <a:avLst/>
          </a:prstGeom>
          <a:ln cap="rnd" w="19050">
            <a:solidFill>
              <a:srgbClr val="0FA3A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7" id="47"/>
          <p:cNvSpPr txBox="true"/>
          <p:nvPr/>
        </p:nvSpPr>
        <p:spPr>
          <a:xfrm rot="0">
            <a:off x="3771900" y="1609725"/>
            <a:ext cx="2000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Design Reference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228600" y="314325"/>
            <a:ext cx="171450" cy="171450"/>
            <a:chOff x="0" y="0"/>
            <a:chExt cx="228600" cy="228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5867400" y="1609725"/>
            <a:ext cx="2190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Implementation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153400" y="1609725"/>
            <a:ext cx="1619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Test Case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867900" y="1609725"/>
            <a:ext cx="1428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</a:p>
        </p:txBody>
      </p:sp>
      <p:sp>
        <p:nvSpPr>
          <p:cNvPr name="AutoShape 54" id="54"/>
          <p:cNvSpPr/>
          <p:nvPr/>
        </p:nvSpPr>
        <p:spPr>
          <a:xfrm>
            <a:off x="2819400" y="190500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5" id="55"/>
          <p:cNvSpPr txBox="true"/>
          <p:nvPr/>
        </p:nvSpPr>
        <p:spPr>
          <a:xfrm rot="0">
            <a:off x="2819400" y="2057400"/>
            <a:ext cx="857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FR-020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771900" y="2057400"/>
            <a:ext cx="2286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Mission planning design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867400" y="2057400"/>
            <a:ext cx="2190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src/modules/missions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153400" y="2057400"/>
            <a:ext cx="1619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TC-020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867900" y="2057400"/>
            <a:ext cx="762000" cy="247650"/>
            <a:chOff x="0" y="0"/>
            <a:chExt cx="1016000" cy="330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16000" cy="330200"/>
            </a:xfrm>
            <a:custGeom>
              <a:avLst/>
              <a:gdLst/>
              <a:ahLst/>
              <a:cxnLst/>
              <a:rect r="r" b="b" t="t" l="l"/>
              <a:pathLst>
                <a:path h="330200" w="1016000">
                  <a:moveTo>
                    <a:pt x="850900" y="0"/>
                  </a:moveTo>
                  <a:cubicBezTo>
                    <a:pt x="942082" y="0"/>
                    <a:pt x="1016000" y="73918"/>
                    <a:pt x="1016000" y="165100"/>
                  </a:cubicBezTo>
                  <a:cubicBezTo>
                    <a:pt x="1016000" y="256282"/>
                    <a:pt x="942082" y="330200"/>
                    <a:pt x="850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6B7A8D">
                <a:alpha val="14902"/>
              </a:srgbClr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160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9867900" y="2066925"/>
            <a:ext cx="762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Planned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819400" y="2638425"/>
            <a:ext cx="857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FR-027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771900" y="2638425"/>
            <a:ext cx="2000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Risk scoring engine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867400" y="2638425"/>
            <a:ext cx="2190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src/modules/risk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153400" y="2638425"/>
            <a:ext cx="1619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TC-027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9867900" y="2638425"/>
            <a:ext cx="762000" cy="247650"/>
            <a:chOff x="0" y="0"/>
            <a:chExt cx="1016000" cy="330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16000" cy="330200"/>
            </a:xfrm>
            <a:custGeom>
              <a:avLst/>
              <a:gdLst/>
              <a:ahLst/>
              <a:cxnLst/>
              <a:rect r="r" b="b" t="t" l="l"/>
              <a:pathLst>
                <a:path h="330200" w="1016000">
                  <a:moveTo>
                    <a:pt x="850900" y="0"/>
                  </a:moveTo>
                  <a:cubicBezTo>
                    <a:pt x="942082" y="0"/>
                    <a:pt x="1016000" y="73918"/>
                    <a:pt x="1016000" y="165100"/>
                  </a:cubicBezTo>
                  <a:cubicBezTo>
                    <a:pt x="1016000" y="256282"/>
                    <a:pt x="942082" y="330200"/>
                    <a:pt x="850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22C55E">
                <a:alpha val="14902"/>
              </a:srgbClr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0160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9867900" y="2647950"/>
            <a:ext cx="762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Passed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819400" y="3238500"/>
            <a:ext cx="857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FR-033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3771900" y="3238500"/>
            <a:ext cx="2000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Approval workflow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5867400" y="3238500"/>
            <a:ext cx="2190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src/modules/approval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8153400" y="3238500"/>
            <a:ext cx="1619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TC-033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9867900" y="3238500"/>
            <a:ext cx="762000" cy="247650"/>
            <a:chOff x="0" y="0"/>
            <a:chExt cx="1016000" cy="3302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16000" cy="330200"/>
            </a:xfrm>
            <a:custGeom>
              <a:avLst/>
              <a:gdLst/>
              <a:ahLst/>
              <a:cxnLst/>
              <a:rect r="r" b="b" t="t" l="l"/>
              <a:pathLst>
                <a:path h="330200" w="1016000">
                  <a:moveTo>
                    <a:pt x="850900" y="0"/>
                  </a:moveTo>
                  <a:cubicBezTo>
                    <a:pt x="942082" y="0"/>
                    <a:pt x="1016000" y="73918"/>
                    <a:pt x="1016000" y="165100"/>
                  </a:cubicBezTo>
                  <a:cubicBezTo>
                    <a:pt x="1016000" y="256282"/>
                    <a:pt x="942082" y="330200"/>
                    <a:pt x="850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E6A817">
                <a:alpha val="14902"/>
              </a:srgbClr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0160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9867900" y="3248025"/>
            <a:ext cx="762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E6A817"/>
                </a:solidFill>
                <a:latin typeface="Inter"/>
                <a:ea typeface="Inter"/>
                <a:cs typeface="Inter"/>
                <a:sym typeface="Inter"/>
              </a:rPr>
              <a:t>Blocked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819400" y="340995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2819400" y="295275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590800" y="1924050"/>
            <a:ext cx="10820400" cy="2095500"/>
            <a:chOff x="0" y="0"/>
            <a:chExt cx="14427200" cy="279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4272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14427200">
                  <a:moveTo>
                    <a:pt x="279400" y="0"/>
                  </a:moveTo>
                  <a:lnTo>
                    <a:pt x="14147800" y="0"/>
                  </a:lnTo>
                  <a:cubicBezTo>
                    <a:pt x="14302108" y="0"/>
                    <a:pt x="14427200" y="125092"/>
                    <a:pt x="14427200" y="279400"/>
                  </a:cubicBezTo>
                  <a:lnTo>
                    <a:pt x="14427200" y="2514600"/>
                  </a:lnTo>
                  <a:cubicBezTo>
                    <a:pt x="14427200" y="2668908"/>
                    <a:pt x="14302108" y="2794000"/>
                    <a:pt x="14147800" y="2794000"/>
                  </a:cubicBezTo>
                  <a:lnTo>
                    <a:pt x="279400" y="2794000"/>
                  </a:lnTo>
                  <a:cubicBezTo>
                    <a:pt x="125092" y="2794000"/>
                    <a:pt x="0" y="2668908"/>
                    <a:pt x="0" y="2514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4272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6200" y="4343400"/>
            <a:ext cx="2133600" cy="323850"/>
            <a:chOff x="0" y="0"/>
            <a:chExt cx="2844800" cy="431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4800" cy="431800"/>
            </a:xfrm>
            <a:custGeom>
              <a:avLst/>
              <a:gdLst/>
              <a:ahLst/>
              <a:cxnLst/>
              <a:rect r="r" b="b" t="t" l="l"/>
              <a:pathLst>
                <a:path h="431800" w="2844800">
                  <a:moveTo>
                    <a:pt x="43180" y="0"/>
                  </a:moveTo>
                  <a:lnTo>
                    <a:pt x="2801620" y="0"/>
                  </a:lnTo>
                  <a:cubicBezTo>
                    <a:pt x="2825468" y="0"/>
                    <a:pt x="2844800" y="19332"/>
                    <a:pt x="2844800" y="43180"/>
                  </a:cubicBezTo>
                  <a:lnTo>
                    <a:pt x="2844800" y="388620"/>
                  </a:lnTo>
                  <a:cubicBezTo>
                    <a:pt x="2844800" y="412468"/>
                    <a:pt x="2825468" y="431800"/>
                    <a:pt x="2801620" y="431800"/>
                  </a:cubicBezTo>
                  <a:lnTo>
                    <a:pt x="43180" y="431800"/>
                  </a:lnTo>
                  <a:cubicBezTo>
                    <a:pt x="19332" y="431800"/>
                    <a:pt x="0" y="412468"/>
                    <a:pt x="0" y="388620"/>
                  </a:cubicBezTo>
                  <a:lnTo>
                    <a:pt x="0" y="43180"/>
                  </a:lnTo>
                  <a:cubicBezTo>
                    <a:pt x="0" y="19332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1A2F4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44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2286000" cy="9753600"/>
            <a:chOff x="0" y="0"/>
            <a:chExt cx="3048000" cy="13004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4800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3004800"/>
                  </a:lnTo>
                  <a:lnTo>
                    <a:pt x="0" y="13004800"/>
                  </a:lnTo>
                  <a:close/>
                </a:path>
              </a:pathLst>
            </a:custGeom>
            <a:solidFill>
              <a:srgbClr val="0A1A2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048000" cy="130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57200" y="142875"/>
            <a:ext cx="19050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Aero</a:t>
            </a:r>
            <a:r>
              <a:rPr lang="en-US" sz="2400" strike="noStrike" u="none">
                <a:solidFill>
                  <a:srgbClr val="0FA3A3"/>
                </a:solidFill>
                <a:latin typeface="DIN Next"/>
                <a:ea typeface="DIN Next"/>
                <a:cs typeface="DIN Next"/>
                <a:sym typeface="DIN Next"/>
              </a:rPr>
              <a:t>Ready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8150" y="10858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8150" y="14478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Drones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8150" y="18097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Batteries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8150" y="21717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Missions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8150" y="25336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Checklists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8150" y="28956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Risk &amp; Approval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8150" y="32575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Maintenance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8150" y="36195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Reports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8150" y="39814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Traceability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8150" y="43434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8150" y="47053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Settings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28600" y="14763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✈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8600" y="18383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⚡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28600" y="22002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◎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28600" y="25622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☑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8600" y="29241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⚠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8600" y="32861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8600" y="36480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▤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28600" y="40100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⛓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28600" y="43719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👤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28600" y="47339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2286000" y="0"/>
            <a:ext cx="11430000" cy="609600"/>
            <a:chOff x="0" y="0"/>
            <a:chExt cx="152400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240000" cy="812800"/>
            </a:xfrm>
            <a:custGeom>
              <a:avLst/>
              <a:gdLst/>
              <a:ahLst/>
              <a:cxnLst/>
              <a:rect r="r" b="b" t="t" l="l"/>
              <a:pathLst>
                <a:path h="8128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52400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28600" y="11144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▣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3144500" y="133350"/>
            <a:ext cx="342900" cy="342900"/>
            <a:chOff x="0" y="0"/>
            <a:chExt cx="457200" cy="457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D1D9E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3144500" y="180975"/>
            <a:ext cx="3429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JD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590800" y="733425"/>
            <a:ext cx="28575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A2B3C"/>
                </a:solidFill>
                <a:latin typeface="DIN Next Bold"/>
                <a:ea typeface="DIN Next Bold"/>
                <a:cs typeface="DIN Next Bold"/>
                <a:sym typeface="DIN Next Bold"/>
              </a:rPr>
              <a:t>Users &amp; Roles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2590800" y="1295400"/>
            <a:ext cx="3048000" cy="400050"/>
            <a:chOff x="0" y="0"/>
            <a:chExt cx="4064000" cy="533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64000" cy="533400"/>
            </a:xfrm>
            <a:custGeom>
              <a:avLst/>
              <a:gdLst/>
              <a:ahLst/>
              <a:cxnLst/>
              <a:rect r="r" b="b" t="t" l="l"/>
              <a:pathLst>
                <a:path h="533400" w="4064000">
                  <a:moveTo>
                    <a:pt x="53340" y="0"/>
                  </a:moveTo>
                  <a:lnTo>
                    <a:pt x="4010660" y="0"/>
                  </a:lnTo>
                  <a:cubicBezTo>
                    <a:pt x="4024807" y="0"/>
                    <a:pt x="4038374" y="5620"/>
                    <a:pt x="4048377" y="15623"/>
                  </a:cubicBezTo>
                  <a:cubicBezTo>
                    <a:pt x="4058380" y="25626"/>
                    <a:pt x="4064000" y="39193"/>
                    <a:pt x="4064000" y="53340"/>
                  </a:cubicBezTo>
                  <a:lnTo>
                    <a:pt x="4064000" y="480060"/>
                  </a:lnTo>
                  <a:cubicBezTo>
                    <a:pt x="4064000" y="494207"/>
                    <a:pt x="4058380" y="507774"/>
                    <a:pt x="4048377" y="517777"/>
                  </a:cubicBezTo>
                  <a:cubicBezTo>
                    <a:pt x="4038374" y="527780"/>
                    <a:pt x="4024807" y="533400"/>
                    <a:pt x="4010660" y="533400"/>
                  </a:cubicBezTo>
                  <a:lnTo>
                    <a:pt x="53340" y="533400"/>
                  </a:lnTo>
                  <a:cubicBezTo>
                    <a:pt x="39193" y="533400"/>
                    <a:pt x="25626" y="527780"/>
                    <a:pt x="15623" y="517777"/>
                  </a:cubicBezTo>
                  <a:cubicBezTo>
                    <a:pt x="5620" y="507774"/>
                    <a:pt x="0" y="494207"/>
                    <a:pt x="0" y="480060"/>
                  </a:cubicBezTo>
                  <a:lnTo>
                    <a:pt x="0" y="53340"/>
                  </a:lnTo>
                  <a:cubicBezTo>
                    <a:pt x="0" y="23881"/>
                    <a:pt x="23881" y="0"/>
                    <a:pt x="5334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0640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809875" y="1362075"/>
            <a:ext cx="27432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Search users...</a:t>
            </a:r>
          </a:p>
        </p:txBody>
      </p:sp>
      <p:sp>
        <p:nvSpPr>
          <p:cNvPr name="AutoShape 48" id="48"/>
          <p:cNvSpPr/>
          <p:nvPr/>
        </p:nvSpPr>
        <p:spPr>
          <a:xfrm>
            <a:off x="228600" y="628650"/>
            <a:ext cx="533400" cy="0"/>
          </a:xfrm>
          <a:prstGeom prst="line">
            <a:avLst/>
          </a:prstGeom>
          <a:ln cap="rnd" w="19050">
            <a:solidFill>
              <a:srgbClr val="0FA3A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9" id="49"/>
          <p:cNvGrpSpPr/>
          <p:nvPr/>
        </p:nvGrpSpPr>
        <p:grpSpPr>
          <a:xfrm rot="0">
            <a:off x="12077700" y="1295400"/>
            <a:ext cx="1333500" cy="438150"/>
            <a:chOff x="0" y="0"/>
            <a:chExt cx="1778000" cy="584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778000" cy="584200"/>
            </a:xfrm>
            <a:custGeom>
              <a:avLst/>
              <a:gdLst/>
              <a:ahLst/>
              <a:cxnLst/>
              <a:rect r="r" b="b" t="t" l="l"/>
              <a:pathLst>
                <a:path h="584200" w="1778000">
                  <a:moveTo>
                    <a:pt x="53340" y="0"/>
                  </a:moveTo>
                  <a:lnTo>
                    <a:pt x="1724660" y="0"/>
                  </a:lnTo>
                  <a:cubicBezTo>
                    <a:pt x="1754119" y="0"/>
                    <a:pt x="1778000" y="26156"/>
                    <a:pt x="1778000" y="58420"/>
                  </a:cubicBezTo>
                  <a:lnTo>
                    <a:pt x="1778000" y="525780"/>
                  </a:lnTo>
                  <a:cubicBezTo>
                    <a:pt x="1778000" y="558044"/>
                    <a:pt x="1754119" y="584200"/>
                    <a:pt x="1724660" y="584200"/>
                  </a:cubicBezTo>
                  <a:lnTo>
                    <a:pt x="53340" y="584200"/>
                  </a:lnTo>
                  <a:cubicBezTo>
                    <a:pt x="39193" y="584200"/>
                    <a:pt x="25626" y="578045"/>
                    <a:pt x="15623" y="567089"/>
                  </a:cubicBezTo>
                  <a:cubicBezTo>
                    <a:pt x="5620" y="556133"/>
                    <a:pt x="0" y="541274"/>
                    <a:pt x="0" y="525780"/>
                  </a:cubicBezTo>
                  <a:lnTo>
                    <a:pt x="0" y="58420"/>
                  </a:lnTo>
                  <a:cubicBezTo>
                    <a:pt x="0" y="26156"/>
                    <a:pt x="23881" y="0"/>
                    <a:pt x="53340" y="0"/>
                  </a:cubicBez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7780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28600" y="314325"/>
            <a:ext cx="171450" cy="171450"/>
            <a:chOff x="0" y="0"/>
            <a:chExt cx="228600" cy="228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2077700" y="1362075"/>
            <a:ext cx="133350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22"/>
              </a:lnSpc>
              <a:spcBef>
                <a:spcPct val="0"/>
              </a:spcBef>
            </a:pPr>
            <a:r>
              <a:rPr lang="en-US" b="true" sz="1444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+ Add User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819400" y="2085975"/>
            <a:ext cx="1619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Name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533900" y="2085975"/>
            <a:ext cx="2286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Email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915150" y="2085975"/>
            <a:ext cx="1714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Role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724900" y="2085975"/>
            <a:ext cx="14287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248900" y="2085975"/>
            <a:ext cx="952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Action</a:t>
            </a:r>
          </a:p>
        </p:txBody>
      </p:sp>
      <p:sp>
        <p:nvSpPr>
          <p:cNvPr name="AutoShape 61" id="61"/>
          <p:cNvSpPr/>
          <p:nvPr/>
        </p:nvSpPr>
        <p:spPr>
          <a:xfrm>
            <a:off x="2819400" y="2381250"/>
            <a:ext cx="10363200" cy="0"/>
          </a:xfrm>
          <a:prstGeom prst="line">
            <a:avLst/>
          </a:prstGeom>
          <a:ln cap="rnd" w="9525">
            <a:solidFill>
              <a:srgbClr val="DDE4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2" id="62"/>
          <p:cNvSpPr txBox="true"/>
          <p:nvPr/>
        </p:nvSpPr>
        <p:spPr>
          <a:xfrm rot="0">
            <a:off x="2819400" y="2533650"/>
            <a:ext cx="1619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Zarnab Ahmed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533900" y="2533650"/>
            <a:ext cx="2286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zarnab@uavlab.com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915150" y="2533650"/>
            <a:ext cx="1714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Administrator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8724900" y="2533650"/>
            <a:ext cx="857250" cy="247650"/>
            <a:chOff x="0" y="0"/>
            <a:chExt cx="1143000" cy="330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43000" cy="330200"/>
            </a:xfrm>
            <a:custGeom>
              <a:avLst/>
              <a:gdLst/>
              <a:ahLst/>
              <a:cxnLst/>
              <a:rect r="r" b="b" t="t" l="l"/>
              <a:pathLst>
                <a:path h="330200" w="1143000">
                  <a:moveTo>
                    <a:pt x="977900" y="0"/>
                  </a:moveTo>
                  <a:cubicBezTo>
                    <a:pt x="1069082" y="0"/>
                    <a:pt x="1143000" y="73918"/>
                    <a:pt x="1143000" y="165100"/>
                  </a:cubicBezTo>
                  <a:cubicBezTo>
                    <a:pt x="1143000" y="256282"/>
                    <a:pt x="1069082" y="330200"/>
                    <a:pt x="977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22C55E">
                <a:alpha val="14902"/>
              </a:srgbClr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1430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8724900" y="2543175"/>
            <a:ext cx="8572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Active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248900" y="2533650"/>
            <a:ext cx="952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0FA3A3"/>
                </a:solidFill>
                <a:latin typeface="Inter"/>
                <a:ea typeface="Inter"/>
                <a:cs typeface="Inter"/>
                <a:sym typeface="Inter"/>
              </a:rPr>
              <a:t>Edit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819400" y="2990850"/>
            <a:ext cx="1619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H. Raza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4533900" y="2990850"/>
            <a:ext cx="2286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h.raza@uavlab.com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6915150" y="2990850"/>
            <a:ext cx="1714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Operator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8724900" y="2990850"/>
            <a:ext cx="857250" cy="247650"/>
            <a:chOff x="0" y="0"/>
            <a:chExt cx="1143000" cy="3302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143000" cy="330200"/>
            </a:xfrm>
            <a:custGeom>
              <a:avLst/>
              <a:gdLst/>
              <a:ahLst/>
              <a:cxnLst/>
              <a:rect r="r" b="b" t="t" l="l"/>
              <a:pathLst>
                <a:path h="330200" w="1143000">
                  <a:moveTo>
                    <a:pt x="977900" y="0"/>
                  </a:moveTo>
                  <a:cubicBezTo>
                    <a:pt x="1069082" y="0"/>
                    <a:pt x="1143000" y="73918"/>
                    <a:pt x="1143000" y="165100"/>
                  </a:cubicBezTo>
                  <a:cubicBezTo>
                    <a:pt x="1143000" y="256282"/>
                    <a:pt x="1069082" y="330200"/>
                    <a:pt x="977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22C55E">
                <a:alpha val="14902"/>
              </a:srgbClr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1430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8724900" y="3000375"/>
            <a:ext cx="8572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Active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248900" y="2990850"/>
            <a:ext cx="952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0FA3A3"/>
                </a:solidFill>
                <a:latin typeface="Inter"/>
                <a:ea typeface="Inter"/>
                <a:cs typeface="Inter"/>
                <a:sym typeface="Inter"/>
              </a:rPr>
              <a:t>Edit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819400" y="3448050"/>
            <a:ext cx="16192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S. Khan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533900" y="3448050"/>
            <a:ext cx="2286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s.khan@uavlab.com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6915150" y="3448050"/>
            <a:ext cx="1714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Technician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8724900" y="3448050"/>
            <a:ext cx="1047750" cy="247650"/>
            <a:chOff x="0" y="0"/>
            <a:chExt cx="1397000" cy="3302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397000" cy="330200"/>
            </a:xfrm>
            <a:custGeom>
              <a:avLst/>
              <a:gdLst/>
              <a:ahLst/>
              <a:cxnLst/>
              <a:rect r="r" b="b" t="t" l="l"/>
              <a:pathLst>
                <a:path h="330200" w="1397000">
                  <a:moveTo>
                    <a:pt x="1195211" y="0"/>
                  </a:moveTo>
                  <a:cubicBezTo>
                    <a:pt x="1306656" y="0"/>
                    <a:pt x="1397000" y="73918"/>
                    <a:pt x="1397000" y="165100"/>
                  </a:cubicBezTo>
                  <a:cubicBezTo>
                    <a:pt x="1397000" y="256282"/>
                    <a:pt x="1306656" y="330200"/>
                    <a:pt x="1195211" y="330200"/>
                  </a:cubicBezTo>
                  <a:lnTo>
                    <a:pt x="201789" y="330200"/>
                  </a:lnTo>
                  <a:cubicBezTo>
                    <a:pt x="90344" y="330200"/>
                    <a:pt x="0" y="256282"/>
                    <a:pt x="0" y="165100"/>
                  </a:cubicBezTo>
                  <a:cubicBezTo>
                    <a:pt x="0" y="73918"/>
                    <a:pt x="90344" y="0"/>
                    <a:pt x="201789" y="0"/>
                  </a:cubicBezTo>
                  <a:close/>
                </a:path>
              </a:pathLst>
            </a:custGeom>
            <a:solidFill>
              <a:srgbClr val="6B7A8D">
                <a:alpha val="14902"/>
              </a:srgbClr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3970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8724900" y="3448050"/>
            <a:ext cx="10477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Deactivated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0248900" y="3448050"/>
            <a:ext cx="952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0FA3A3"/>
                </a:solidFill>
                <a:latin typeface="Inter"/>
                <a:ea typeface="Inter"/>
                <a:cs typeface="Inter"/>
                <a:sym typeface="Inter"/>
              </a:rPr>
              <a:t>Edit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24500" y="1466850"/>
            <a:ext cx="4953000" cy="3981450"/>
            <a:chOff x="0" y="0"/>
            <a:chExt cx="6604000" cy="5308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0" cy="5308600"/>
            </a:xfrm>
            <a:custGeom>
              <a:avLst/>
              <a:gdLst/>
              <a:ahLst/>
              <a:cxnLst/>
              <a:rect r="r" b="b" t="t" l="l"/>
              <a:pathLst>
                <a:path h="5308600" w="6604000">
                  <a:moveTo>
                    <a:pt x="406400" y="0"/>
                  </a:moveTo>
                  <a:lnTo>
                    <a:pt x="6197600" y="0"/>
                  </a:lnTo>
                  <a:cubicBezTo>
                    <a:pt x="6422049" y="0"/>
                    <a:pt x="6604000" y="237674"/>
                    <a:pt x="6604000" y="530860"/>
                  </a:cubicBezTo>
                  <a:lnTo>
                    <a:pt x="6604000" y="4777740"/>
                  </a:lnTo>
                  <a:cubicBezTo>
                    <a:pt x="6604000" y="5070926"/>
                    <a:pt x="6422049" y="5308600"/>
                    <a:pt x="6197600" y="5308600"/>
                  </a:cubicBezTo>
                  <a:lnTo>
                    <a:pt x="406400" y="5308600"/>
                  </a:lnTo>
                  <a:cubicBezTo>
                    <a:pt x="181951" y="5308600"/>
                    <a:pt x="0" y="5070926"/>
                    <a:pt x="0" y="4777740"/>
                  </a:cubicBezTo>
                  <a:lnTo>
                    <a:pt x="0" y="530860"/>
                  </a:lnTo>
                  <a:cubicBezTo>
                    <a:pt x="0" y="237674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04000" cy="534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200" y="4705350"/>
            <a:ext cx="2133600" cy="323850"/>
            <a:chOff x="0" y="0"/>
            <a:chExt cx="2844800" cy="431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4800" cy="431800"/>
            </a:xfrm>
            <a:custGeom>
              <a:avLst/>
              <a:gdLst/>
              <a:ahLst/>
              <a:cxnLst/>
              <a:rect r="r" b="b" t="t" l="l"/>
              <a:pathLst>
                <a:path h="431800" w="2844800">
                  <a:moveTo>
                    <a:pt x="43180" y="0"/>
                  </a:moveTo>
                  <a:lnTo>
                    <a:pt x="2801620" y="0"/>
                  </a:lnTo>
                  <a:cubicBezTo>
                    <a:pt x="2825468" y="0"/>
                    <a:pt x="2844800" y="19332"/>
                    <a:pt x="2844800" y="43180"/>
                  </a:cubicBezTo>
                  <a:lnTo>
                    <a:pt x="2844800" y="388620"/>
                  </a:lnTo>
                  <a:cubicBezTo>
                    <a:pt x="2844800" y="412468"/>
                    <a:pt x="2825468" y="431800"/>
                    <a:pt x="2801620" y="431800"/>
                  </a:cubicBezTo>
                  <a:lnTo>
                    <a:pt x="43180" y="431800"/>
                  </a:lnTo>
                  <a:cubicBezTo>
                    <a:pt x="19332" y="431800"/>
                    <a:pt x="0" y="412468"/>
                    <a:pt x="0" y="388620"/>
                  </a:cubicBezTo>
                  <a:lnTo>
                    <a:pt x="0" y="43180"/>
                  </a:lnTo>
                  <a:cubicBezTo>
                    <a:pt x="0" y="19332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1A2F4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44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2286000" cy="9753600"/>
            <a:chOff x="0" y="0"/>
            <a:chExt cx="3048000" cy="13004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4800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3004800"/>
                  </a:lnTo>
                  <a:lnTo>
                    <a:pt x="0" y="13004800"/>
                  </a:lnTo>
                  <a:close/>
                </a:path>
              </a:pathLst>
            </a:custGeom>
            <a:solidFill>
              <a:srgbClr val="0A1A2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048000" cy="130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57200" y="142875"/>
            <a:ext cx="19050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Aero</a:t>
            </a:r>
            <a:r>
              <a:rPr lang="en-US" sz="2400" strike="noStrike" u="none">
                <a:solidFill>
                  <a:srgbClr val="0FA3A3"/>
                </a:solidFill>
                <a:latin typeface="DIN Next"/>
                <a:ea typeface="DIN Next"/>
                <a:cs typeface="DIN Next"/>
                <a:sym typeface="DIN Next"/>
              </a:rPr>
              <a:t>Ready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8150" y="10858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8150" y="14478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Drones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8150" y="18097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Batteries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8150" y="21717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Missions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8150" y="25336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Checklists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8150" y="28956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Risk &amp; Approval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8150" y="32575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Maintenance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8150" y="36195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Reports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8150" y="39814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Traceability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8150" y="434340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Users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8150" y="4705350"/>
            <a:ext cx="16002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Settings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286000" y="0"/>
            <a:ext cx="11430000" cy="609600"/>
            <a:chOff x="0" y="0"/>
            <a:chExt cx="152400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240000" cy="812800"/>
            </a:xfrm>
            <a:custGeom>
              <a:avLst/>
              <a:gdLst/>
              <a:ahLst/>
              <a:cxnLst/>
              <a:rect r="r" b="b" t="t" l="l"/>
              <a:pathLst>
                <a:path h="8128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52400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144500" y="133350"/>
            <a:ext cx="342900" cy="342900"/>
            <a:chOff x="0" y="0"/>
            <a:chExt cx="457200" cy="457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D1D9E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28600" y="14763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✈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8600" y="18383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⚡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8600" y="22002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◎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28600" y="25622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☑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28600" y="29241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⚠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28600" y="32861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28600" y="36480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▤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8600" y="40100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⛓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28600" y="437197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👤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8600" y="47339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44500" y="180975"/>
            <a:ext cx="3429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6B7A8D"/>
                </a:solidFill>
                <a:latin typeface="Inter"/>
                <a:ea typeface="Inter"/>
                <a:cs typeface="Inter"/>
                <a:sym typeface="Inter"/>
              </a:rPr>
              <a:t>JD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8600" y="1114425"/>
            <a:ext cx="1905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7A8FA0"/>
                </a:solidFill>
                <a:latin typeface="Inter"/>
                <a:ea typeface="Inter"/>
                <a:cs typeface="Inter"/>
                <a:sym typeface="Inter"/>
              </a:rPr>
              <a:t>▣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590800" y="733425"/>
            <a:ext cx="28575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A2B3C"/>
                </a:solidFill>
                <a:latin typeface="DIN Next Bold"/>
                <a:ea typeface="DIN Next Bold"/>
                <a:cs typeface="DIN Next Bold"/>
                <a:sym typeface="DIN Next Bold"/>
              </a:rPr>
              <a:t>Settings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829300" y="1733550"/>
            <a:ext cx="1905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1A2B3C"/>
                </a:solidFill>
                <a:latin typeface="Inter Bold"/>
                <a:ea typeface="Inter Bold"/>
                <a:cs typeface="Inter Bold"/>
                <a:sym typeface="Inter Bold"/>
              </a:rPr>
              <a:t>Profile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829300" y="2124075"/>
            <a:ext cx="43434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Full name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5829300" y="2381250"/>
            <a:ext cx="4343400" cy="381000"/>
            <a:chOff x="0" y="0"/>
            <a:chExt cx="5791200" cy="508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791200" cy="508000"/>
            </a:xfrm>
            <a:custGeom>
              <a:avLst/>
              <a:gdLst/>
              <a:ahLst/>
              <a:cxnLst/>
              <a:rect r="r" b="b" t="t" l="l"/>
              <a:pathLst>
                <a:path h="508000" w="5791200">
                  <a:moveTo>
                    <a:pt x="50800" y="0"/>
                  </a:moveTo>
                  <a:lnTo>
                    <a:pt x="5740400" y="0"/>
                  </a:lnTo>
                  <a:cubicBezTo>
                    <a:pt x="5768456" y="0"/>
                    <a:pt x="5791200" y="22744"/>
                    <a:pt x="5791200" y="50800"/>
                  </a:cubicBezTo>
                  <a:lnTo>
                    <a:pt x="5791200" y="457200"/>
                  </a:lnTo>
                  <a:cubicBezTo>
                    <a:pt x="5791200" y="485256"/>
                    <a:pt x="5768456" y="508000"/>
                    <a:pt x="5740400" y="508000"/>
                  </a:cubicBezTo>
                  <a:lnTo>
                    <a:pt x="50800" y="508000"/>
                  </a:lnTo>
                  <a:cubicBezTo>
                    <a:pt x="22744" y="508000"/>
                    <a:pt x="0" y="485256"/>
                    <a:pt x="0" y="457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7912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5943600" y="2428875"/>
            <a:ext cx="41148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Zarnab Ahmed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829300" y="2962275"/>
            <a:ext cx="43434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Email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5829300" y="3219450"/>
            <a:ext cx="4343400" cy="381000"/>
            <a:chOff x="0" y="0"/>
            <a:chExt cx="5791200" cy="508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791200" cy="508000"/>
            </a:xfrm>
            <a:custGeom>
              <a:avLst/>
              <a:gdLst/>
              <a:ahLst/>
              <a:cxnLst/>
              <a:rect r="r" b="b" t="t" l="l"/>
              <a:pathLst>
                <a:path h="508000" w="5791200">
                  <a:moveTo>
                    <a:pt x="50800" y="0"/>
                  </a:moveTo>
                  <a:lnTo>
                    <a:pt x="5740400" y="0"/>
                  </a:lnTo>
                  <a:cubicBezTo>
                    <a:pt x="5768456" y="0"/>
                    <a:pt x="5791200" y="22744"/>
                    <a:pt x="5791200" y="50800"/>
                  </a:cubicBezTo>
                  <a:lnTo>
                    <a:pt x="5791200" y="457200"/>
                  </a:lnTo>
                  <a:cubicBezTo>
                    <a:pt x="5791200" y="485256"/>
                    <a:pt x="5768456" y="508000"/>
                    <a:pt x="5740400" y="508000"/>
                  </a:cubicBezTo>
                  <a:lnTo>
                    <a:pt x="50800" y="508000"/>
                  </a:lnTo>
                  <a:cubicBezTo>
                    <a:pt x="22744" y="508000"/>
                    <a:pt x="0" y="485256"/>
                    <a:pt x="0" y="457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3F5F7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57912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5943600" y="3267075"/>
            <a:ext cx="41148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zarnab@uavlab.com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829300" y="3800475"/>
            <a:ext cx="4343400" cy="2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1A2B3C"/>
                </a:solidFill>
                <a:latin typeface="Inter"/>
                <a:ea typeface="Inter"/>
                <a:cs typeface="Inter"/>
                <a:sym typeface="Inter"/>
              </a:rPr>
              <a:t>Change password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5829300" y="4057650"/>
            <a:ext cx="4343400" cy="381000"/>
            <a:chOff x="0" y="0"/>
            <a:chExt cx="5791200" cy="508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791200" cy="508000"/>
            </a:xfrm>
            <a:custGeom>
              <a:avLst/>
              <a:gdLst/>
              <a:ahLst/>
              <a:cxnLst/>
              <a:rect r="r" b="b" t="t" l="l"/>
              <a:pathLst>
                <a:path h="508000" w="5791200">
                  <a:moveTo>
                    <a:pt x="50800" y="0"/>
                  </a:moveTo>
                  <a:lnTo>
                    <a:pt x="5740400" y="0"/>
                  </a:lnTo>
                  <a:cubicBezTo>
                    <a:pt x="5768456" y="0"/>
                    <a:pt x="5791200" y="22744"/>
                    <a:pt x="5791200" y="50800"/>
                  </a:cubicBezTo>
                  <a:lnTo>
                    <a:pt x="5791200" y="457200"/>
                  </a:lnTo>
                  <a:cubicBezTo>
                    <a:pt x="5791200" y="485256"/>
                    <a:pt x="5768456" y="508000"/>
                    <a:pt x="5740400" y="508000"/>
                  </a:cubicBezTo>
                  <a:lnTo>
                    <a:pt x="50800" y="508000"/>
                  </a:lnTo>
                  <a:cubicBezTo>
                    <a:pt x="22744" y="508000"/>
                    <a:pt x="0" y="485256"/>
                    <a:pt x="0" y="457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E4E8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57912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5943600" y="4105275"/>
            <a:ext cx="41148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9BA8B5"/>
                </a:solidFill>
                <a:latin typeface="Inter"/>
                <a:ea typeface="Inter"/>
                <a:cs typeface="Inter"/>
                <a:sym typeface="Inter"/>
              </a:rPr>
              <a:t>New password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5829300" y="4743450"/>
            <a:ext cx="4343400" cy="457200"/>
            <a:chOff x="0" y="0"/>
            <a:chExt cx="5791200" cy="6096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791200" cy="609600"/>
            </a:xfrm>
            <a:custGeom>
              <a:avLst/>
              <a:gdLst/>
              <a:ahLst/>
              <a:cxnLst/>
              <a:rect r="r" b="b" t="t" l="l"/>
              <a:pathLst>
                <a:path h="609600" w="5791200">
                  <a:moveTo>
                    <a:pt x="53340" y="0"/>
                  </a:moveTo>
                  <a:lnTo>
                    <a:pt x="5737860" y="0"/>
                  </a:lnTo>
                  <a:cubicBezTo>
                    <a:pt x="5752007" y="0"/>
                    <a:pt x="5765574" y="6422"/>
                    <a:pt x="5775577" y="17855"/>
                  </a:cubicBezTo>
                  <a:cubicBezTo>
                    <a:pt x="5785580" y="29287"/>
                    <a:pt x="5791200" y="44792"/>
                    <a:pt x="5791200" y="60960"/>
                  </a:cubicBezTo>
                  <a:lnTo>
                    <a:pt x="5791200" y="548640"/>
                  </a:lnTo>
                  <a:cubicBezTo>
                    <a:pt x="5791200" y="564808"/>
                    <a:pt x="5785580" y="580313"/>
                    <a:pt x="5775577" y="591745"/>
                  </a:cubicBezTo>
                  <a:cubicBezTo>
                    <a:pt x="5765574" y="603178"/>
                    <a:pt x="5752007" y="609600"/>
                    <a:pt x="5737860" y="609600"/>
                  </a:cubicBezTo>
                  <a:lnTo>
                    <a:pt x="53340" y="609600"/>
                  </a:lnTo>
                  <a:cubicBezTo>
                    <a:pt x="39193" y="609600"/>
                    <a:pt x="25626" y="603177"/>
                    <a:pt x="15623" y="591745"/>
                  </a:cubicBezTo>
                  <a:cubicBezTo>
                    <a:pt x="5620" y="580313"/>
                    <a:pt x="0" y="564808"/>
                    <a:pt x="0" y="548640"/>
                  </a:cubicBezTo>
                  <a:lnTo>
                    <a:pt x="0" y="60960"/>
                  </a:lnTo>
                  <a:cubicBezTo>
                    <a:pt x="0" y="27293"/>
                    <a:pt x="23881" y="0"/>
                    <a:pt x="53340" y="0"/>
                  </a:cubicBez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57912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5829300" y="4819650"/>
            <a:ext cx="4343400" cy="24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22"/>
              </a:lnSpc>
              <a:spcBef>
                <a:spcPct val="0"/>
              </a:spcBef>
            </a:pPr>
            <a:r>
              <a:rPr lang="en-US" b="true" sz="1444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Save Changes</a:t>
            </a:r>
          </a:p>
        </p:txBody>
      </p:sp>
      <p:sp>
        <p:nvSpPr>
          <p:cNvPr name="AutoShape 62" id="62"/>
          <p:cNvSpPr/>
          <p:nvPr/>
        </p:nvSpPr>
        <p:spPr>
          <a:xfrm flipH="true">
            <a:off x="9525" y="628650"/>
            <a:ext cx="219075" cy="0"/>
          </a:xfrm>
          <a:prstGeom prst="line">
            <a:avLst/>
          </a:prstGeom>
          <a:ln cap="rnd" w="19050">
            <a:solidFill>
              <a:srgbClr val="0FA3A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3" id="63"/>
          <p:cNvGrpSpPr/>
          <p:nvPr/>
        </p:nvGrpSpPr>
        <p:grpSpPr>
          <a:xfrm rot="0">
            <a:off x="228600" y="314325"/>
            <a:ext cx="171450" cy="171450"/>
            <a:chOff x="0" y="0"/>
            <a:chExt cx="228600" cy="2286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FA3A3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DAHPWAEcKdI</dc:identifier>
  <dcterms:modified xsi:type="dcterms:W3CDTF">2011-08-01T06:04:30Z</dcterms:modified>
  <cp:revision>1</cp:revision>
  <dc:title>AeroReady Web Login Dashboard</dc:title>
</cp:coreProperties>
</file>